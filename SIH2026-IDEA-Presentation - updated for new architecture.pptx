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galin" charset="1" panose="00000500000000000000"/>
      <p:regular r:id="rId12"/>
    </p:embeddedFont>
    <p:embeddedFont>
      <p:font typeface="Times New Roman" charset="1" panose="02020603050405020304"/>
      <p:regular r:id="rId13"/>
    </p:embeddedFon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  <p:embeddedFont>
      <p:font typeface="Arimo Bold" charset="1" panose="020B0704020202020204"/>
      <p:regular r:id="rId19"/>
    </p:embeddedFont>
    <p:embeddedFont>
      <p:font typeface="Shrikhand" charset="1" panose="02000000000000000000"/>
      <p:regular r:id="rId20"/>
    </p:embeddedFont>
    <p:embeddedFont>
      <p:font typeface="Arimo" charset="1" panose="020B0604020202020204"/>
      <p:regular r:id="rId23"/>
    </p:embeddedFont>
    <p:embeddedFont>
      <p:font typeface="Glacial Indifferenc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openslr.org/12" TargetMode="External" Type="http://schemas.openxmlformats.org/officeDocument/2006/relationships/hyperlink"/><Relationship Id="rId11" Target="../media/image5.jpeg" Type="http://schemas.openxmlformats.org/officeDocument/2006/relationships/image"/><Relationship Id="rId12" Target="../media/image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www.isca-archive.org/interspeech_2015/sainath15b_interspeech.pdf" TargetMode="External" Type="http://schemas.openxmlformats.org/officeDocument/2006/relationships/hyperlink"/><Relationship Id="rId5" Target="https://arxiv.org/abs/1711.07128" TargetMode="External" Type="http://schemas.openxmlformats.org/officeDocument/2006/relationships/hyperlink"/><Relationship Id="rId6" Target="https://arxiv.org/abs/1804.03209" TargetMode="External" Type="http://schemas.openxmlformats.org/officeDocument/2006/relationships/hyperlink"/><Relationship Id="rId7" Target="https://ai.google.dev/edge/litert/microcontrollers/overview" TargetMode="External" Type="http://schemas.openxmlformats.org/officeDocument/2006/relationships/hyperlink"/><Relationship Id="rId8" Target="https://github.com/usefulsensors/moonshine" TargetMode="External" Type="http://schemas.openxmlformats.org/officeDocument/2006/relationships/hyperlink"/><Relationship Id="rId9" Target="https://github.com/espressif/esp-sr" TargetMode="External" Type="http://schemas.openxmlformats.org/officeDocument/2006/relationships/hyperlink"/><Relationship Id="rId13" Target="https://github.com/rhasspy/piper" TargetMode="External" Type="http://schemas.openxmlformats.org/officeDocument/2006/relationships/hyperlink"/><Relationship Id="rId14" Target="https://github.com/snakers4/silero-vad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38237" cy="10287000"/>
          </a:xfrm>
          <a:custGeom>
            <a:avLst/>
            <a:gdLst/>
            <a:ahLst/>
            <a:cxnLst/>
            <a:rect r="r" b="b" t="t" l="l"/>
            <a:pathLst>
              <a:path h="10287000" w="18438237">
                <a:moveTo>
                  <a:pt x="0" y="0"/>
                </a:moveTo>
                <a:lnTo>
                  <a:pt x="18438237" y="0"/>
                </a:lnTo>
                <a:lnTo>
                  <a:pt x="1843823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396" y="1762255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44258" y="3186650"/>
            <a:ext cx="4805267" cy="5139357"/>
            <a:chOff x="0" y="0"/>
            <a:chExt cx="6407023" cy="68524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9475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2881" y="799000"/>
            <a:ext cx="14107997" cy="1543050"/>
            <a:chOff x="0" y="0"/>
            <a:chExt cx="3715687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15686" cy="406400"/>
            </a:xfrm>
            <a:custGeom>
              <a:avLst/>
              <a:gdLst/>
              <a:ahLst/>
              <a:cxnLst/>
              <a:rect r="r" b="b" t="t" l="l"/>
              <a:pathLst>
                <a:path h="406400" w="3715686">
                  <a:moveTo>
                    <a:pt x="3715686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3715686" y="406400"/>
                  </a:lnTo>
                  <a:lnTo>
                    <a:pt x="3614086" y="203200"/>
                  </a:lnTo>
                  <a:lnTo>
                    <a:pt x="3715686" y="0"/>
                  </a:lnTo>
                  <a:close/>
                </a:path>
              </a:pathLst>
            </a:custGeom>
            <a:solidFill>
              <a:srgbClr val="020C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8900" y="-19050"/>
              <a:ext cx="3537887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0308" y="-90213"/>
            <a:ext cx="15968848" cy="3199641"/>
            <a:chOff x="0" y="0"/>
            <a:chExt cx="20726400" cy="4152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0726400" cy="415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999"/>
                </a:lnSpc>
              </a:pPr>
              <a:r>
                <a:rPr lang="en-US" sz="749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SMART INDIA HACKATHON 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37099" y="2085307"/>
            <a:ext cx="12547931" cy="1122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</a:p>
          <a:p>
            <a:pPr algn="l" marL="1144271" indent="-572135" lvl="1">
              <a:lnSpc>
                <a:spcPts val="6360"/>
              </a:lnSpc>
              <a:buFont typeface="Arial"/>
              <a:buChar char="•"/>
            </a:pPr>
            <a:r>
              <a:rPr lang="en-US" sz="5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–26172</a:t>
            </a:r>
          </a:p>
          <a:p>
            <a:pPr algn="l" marL="1144271" indent="-572135" lvl="1">
              <a:lnSpc>
                <a:spcPts val="6360"/>
              </a:lnSpc>
              <a:buFont typeface="Arial"/>
              <a:buChar char="•"/>
            </a:pPr>
            <a:r>
              <a:rPr lang="en-US" sz="5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Title-Low Latency and Efficient Voice Activator for Edge Devices</a:t>
            </a:r>
          </a:p>
          <a:p>
            <a:pPr algn="l" marL="1144271" indent="-572135" lvl="1">
              <a:lnSpc>
                <a:spcPts val="6360"/>
              </a:lnSpc>
              <a:buFont typeface="Arial"/>
              <a:buChar char="•"/>
            </a:pPr>
            <a:r>
              <a:rPr lang="en-US" sz="5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Theme- Smart Automation </a:t>
            </a:r>
          </a:p>
          <a:p>
            <a:pPr algn="l" marL="1144271" indent="-572135" lvl="1">
              <a:lnSpc>
                <a:spcPts val="6360"/>
              </a:lnSpc>
              <a:buFont typeface="Arial"/>
              <a:buChar char="•"/>
            </a:pPr>
            <a:r>
              <a:rPr lang="en-US" sz="5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Category- Hardware</a:t>
            </a:r>
          </a:p>
          <a:p>
            <a:pPr algn="l" marL="1144271" indent="-572135" lvl="1">
              <a:lnSpc>
                <a:spcPts val="6360"/>
              </a:lnSpc>
              <a:buFont typeface="Arial"/>
              <a:buChar char="•"/>
            </a:pPr>
            <a:r>
              <a:rPr lang="en-US" sz="5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ID-</a:t>
            </a:r>
          </a:p>
          <a:p>
            <a:pPr algn="l" marL="1144271" indent="-572135" lvl="1">
              <a:lnSpc>
                <a:spcPts val="6360"/>
              </a:lnSpc>
              <a:buFont typeface="Arial"/>
              <a:buChar char="•"/>
            </a:pPr>
            <a:r>
              <a:rPr lang="en-US" sz="5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Name- SEVA</a:t>
            </a:r>
          </a:p>
          <a:p>
            <a:pPr algn="l">
              <a:lnSpc>
                <a:spcPts val="6360"/>
              </a:lnSpc>
            </a:pPr>
          </a:p>
          <a:p>
            <a:pPr algn="l">
              <a:lnSpc>
                <a:spcPts val="6360"/>
              </a:lnSpc>
            </a:pPr>
          </a:p>
          <a:p>
            <a:pPr algn="l">
              <a:lnSpc>
                <a:spcPts val="6360"/>
              </a:lnSpc>
            </a:pPr>
          </a:p>
          <a:p>
            <a:pPr algn="l">
              <a:lnSpc>
                <a:spcPts val="6360"/>
              </a:lnSpc>
            </a:pPr>
          </a:p>
          <a:p>
            <a:pPr algn="l">
              <a:lnSpc>
                <a:spcPts val="6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910"/>
            <a:ext cx="18288000" cy="10203180"/>
          </a:xfrm>
          <a:custGeom>
            <a:avLst/>
            <a:gdLst/>
            <a:ahLst/>
            <a:cxnLst/>
            <a:rect r="r" b="b" t="t" l="l"/>
            <a:pathLst>
              <a:path h="10203180" w="18288000">
                <a:moveTo>
                  <a:pt x="0" y="0"/>
                </a:moveTo>
                <a:lnTo>
                  <a:pt x="18288000" y="0"/>
                </a:lnTo>
                <a:lnTo>
                  <a:pt x="18288000" y="10203180"/>
                </a:lnTo>
                <a:lnTo>
                  <a:pt x="0" y="10203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48825"/>
            <a:ext cx="18288000" cy="638175"/>
            <a:chOff x="0" y="0"/>
            <a:chExt cx="24384000" cy="850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850900"/>
            </a:xfrm>
            <a:custGeom>
              <a:avLst/>
              <a:gdLst/>
              <a:ahLst/>
              <a:cxnLst/>
              <a:rect r="r" b="b" t="t" l="l"/>
              <a:pathLst>
                <a:path h="850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50900"/>
                  </a:lnTo>
                  <a:lnTo>
                    <a:pt x="0" y="850900"/>
                  </a:lnTo>
                  <a:close/>
                </a:path>
              </a:pathLst>
            </a:custGeom>
            <a:solidFill>
              <a:srgbClr val="020C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9519" y="1595752"/>
            <a:ext cx="9540600" cy="1720354"/>
            <a:chOff x="0" y="0"/>
            <a:chExt cx="1963086" cy="3539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3087" cy="353982"/>
            </a:xfrm>
            <a:custGeom>
              <a:avLst/>
              <a:gdLst/>
              <a:ahLst/>
              <a:cxnLst/>
              <a:rect r="r" b="b" t="t" l="l"/>
              <a:pathLst>
                <a:path h="353982" w="1963087">
                  <a:moveTo>
                    <a:pt x="15849" y="0"/>
                  </a:moveTo>
                  <a:lnTo>
                    <a:pt x="1947238" y="0"/>
                  </a:lnTo>
                  <a:cubicBezTo>
                    <a:pt x="1951441" y="0"/>
                    <a:pt x="1955472" y="1670"/>
                    <a:pt x="1958444" y="4642"/>
                  </a:cubicBezTo>
                  <a:cubicBezTo>
                    <a:pt x="1961417" y="7614"/>
                    <a:pt x="1963087" y="11646"/>
                    <a:pt x="1963087" y="15849"/>
                  </a:cubicBezTo>
                  <a:lnTo>
                    <a:pt x="1963087" y="338133"/>
                  </a:lnTo>
                  <a:cubicBezTo>
                    <a:pt x="1963087" y="342337"/>
                    <a:pt x="1961417" y="346368"/>
                    <a:pt x="1958444" y="349340"/>
                  </a:cubicBezTo>
                  <a:cubicBezTo>
                    <a:pt x="1955472" y="352313"/>
                    <a:pt x="1951441" y="353982"/>
                    <a:pt x="1947238" y="353982"/>
                  </a:cubicBezTo>
                  <a:lnTo>
                    <a:pt x="15849" y="353982"/>
                  </a:lnTo>
                  <a:cubicBezTo>
                    <a:pt x="11646" y="353982"/>
                    <a:pt x="7614" y="352313"/>
                    <a:pt x="4642" y="349340"/>
                  </a:cubicBezTo>
                  <a:cubicBezTo>
                    <a:pt x="1670" y="346368"/>
                    <a:pt x="0" y="342337"/>
                    <a:pt x="0" y="338133"/>
                  </a:cubicBezTo>
                  <a:lnTo>
                    <a:pt x="0" y="15849"/>
                  </a:lnTo>
                  <a:cubicBezTo>
                    <a:pt x="0" y="11646"/>
                    <a:pt x="1670" y="7614"/>
                    <a:pt x="4642" y="4642"/>
                  </a:cubicBezTo>
                  <a:cubicBezTo>
                    <a:pt x="7614" y="1670"/>
                    <a:pt x="11646" y="0"/>
                    <a:pt x="15849" y="0"/>
                  </a:cubicBezTo>
                  <a:close/>
                </a:path>
              </a:pathLst>
            </a:custGeom>
            <a:solidFill>
              <a:srgbClr val="7FCB27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63086" cy="373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9519" y="3420881"/>
            <a:ext cx="9540600" cy="3033608"/>
            <a:chOff x="0" y="0"/>
            <a:chExt cx="1458745" cy="4638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8745" cy="463835"/>
            </a:xfrm>
            <a:custGeom>
              <a:avLst/>
              <a:gdLst/>
              <a:ahLst/>
              <a:cxnLst/>
              <a:rect r="r" b="b" t="t" l="l"/>
              <a:pathLst>
                <a:path h="463835" w="1458745">
                  <a:moveTo>
                    <a:pt x="15849" y="0"/>
                  </a:moveTo>
                  <a:lnTo>
                    <a:pt x="1442896" y="0"/>
                  </a:lnTo>
                  <a:cubicBezTo>
                    <a:pt x="1447099" y="0"/>
                    <a:pt x="1451130" y="1670"/>
                    <a:pt x="1454103" y="4642"/>
                  </a:cubicBezTo>
                  <a:cubicBezTo>
                    <a:pt x="1457075" y="7614"/>
                    <a:pt x="1458745" y="11646"/>
                    <a:pt x="1458745" y="15849"/>
                  </a:cubicBezTo>
                  <a:lnTo>
                    <a:pt x="1458745" y="447986"/>
                  </a:lnTo>
                  <a:cubicBezTo>
                    <a:pt x="1458745" y="452189"/>
                    <a:pt x="1457075" y="456220"/>
                    <a:pt x="1454103" y="459193"/>
                  </a:cubicBezTo>
                  <a:cubicBezTo>
                    <a:pt x="1451130" y="462165"/>
                    <a:pt x="1447099" y="463835"/>
                    <a:pt x="1442896" y="463835"/>
                  </a:cubicBezTo>
                  <a:lnTo>
                    <a:pt x="15849" y="463835"/>
                  </a:lnTo>
                  <a:cubicBezTo>
                    <a:pt x="11646" y="463835"/>
                    <a:pt x="7614" y="462165"/>
                    <a:pt x="4642" y="459193"/>
                  </a:cubicBezTo>
                  <a:cubicBezTo>
                    <a:pt x="1670" y="456220"/>
                    <a:pt x="0" y="452189"/>
                    <a:pt x="0" y="447986"/>
                  </a:cubicBezTo>
                  <a:lnTo>
                    <a:pt x="0" y="15849"/>
                  </a:lnTo>
                  <a:cubicBezTo>
                    <a:pt x="0" y="11646"/>
                    <a:pt x="1670" y="7614"/>
                    <a:pt x="4642" y="4642"/>
                  </a:cubicBezTo>
                  <a:cubicBezTo>
                    <a:pt x="7614" y="1670"/>
                    <a:pt x="11646" y="0"/>
                    <a:pt x="15849" y="0"/>
                  </a:cubicBezTo>
                  <a:close/>
                </a:path>
              </a:pathLst>
            </a:custGeom>
            <a:solidFill>
              <a:srgbClr val="428DFF">
                <a:alpha val="21961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58745" cy="48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7565" y="692094"/>
            <a:ext cx="9324507" cy="856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3"/>
              </a:lnSpc>
            </a:pPr>
          </a:p>
          <a:p>
            <a:pPr algn="l">
              <a:lnSpc>
                <a:spcPts val="4053"/>
              </a:lnSpc>
            </a:pPr>
          </a:p>
          <a:p>
            <a:pPr algn="l">
              <a:lnSpc>
                <a:spcPts val="3118"/>
              </a:lnSpc>
            </a:pPr>
            <a:r>
              <a:rPr lang="en-US" sz="2598" u="sng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Solution:</a:t>
            </a:r>
          </a:p>
          <a:p>
            <a:pPr algn="l">
              <a:lnSpc>
                <a:spcPts val="3118"/>
              </a:lnSpc>
            </a:pP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Developing an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open-source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PyTorch-based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voice activator with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on-device wake-word detection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(custom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TinyWakeWordNet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that streams live audio to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Moonshine ASR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WebSocket.</a:t>
            </a:r>
          </a:p>
          <a:p>
            <a:pPr algn="l">
              <a:lnSpc>
                <a:spcPts val="3118"/>
              </a:lnSpc>
            </a:pPr>
          </a:p>
          <a:p>
            <a:pPr algn="l">
              <a:lnSpc>
                <a:spcPts val="3118"/>
              </a:lnSpc>
            </a:pPr>
            <a:r>
              <a:rPr lang="en-US" sz="2598" u="sng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Addressing the Problem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>
              <a:lnSpc>
                <a:spcPts val="3118"/>
              </a:lnSpc>
            </a:pP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instant voice activation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without continuous,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battery-draining cloud streaming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3118"/>
              </a:lnSpc>
            </a:pP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Operates strictly within system limits (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&lt;256KB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RAM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&lt;10%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idle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CPU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algn="l">
              <a:lnSpc>
                <a:spcPts val="3118"/>
              </a:lnSpc>
            </a:pP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100% open-source components (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PyTorch, Piper, Moonshine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with a </a:t>
            </a:r>
            <a:r>
              <a:rPr lang="en-US" sz="259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custom wake word</a:t>
            </a:r>
            <a:r>
              <a:rPr lang="en-US" sz="25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removing reliance on costly commercial SDKs</a:t>
            </a:r>
          </a:p>
          <a:p>
            <a:pPr algn="l">
              <a:lnSpc>
                <a:spcPts val="3118"/>
              </a:lnSpc>
            </a:pPr>
          </a:p>
          <a:p>
            <a:pPr algn="l">
              <a:lnSpc>
                <a:spcPts val="3118"/>
              </a:lnSpc>
            </a:pPr>
            <a:r>
              <a:rPr lang="en-US" sz="2598" u="sng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Solution Overview:</a:t>
            </a:r>
          </a:p>
          <a:p>
            <a:pPr algn="just">
              <a:lnSpc>
                <a:spcPts val="3118"/>
              </a:lnSpc>
            </a:pPr>
          </a:p>
          <a:p>
            <a:pPr algn="just">
              <a:lnSpc>
                <a:spcPts val="3118"/>
              </a:lnSpc>
            </a:pPr>
          </a:p>
          <a:p>
            <a:pPr algn="just">
              <a:lnSpc>
                <a:spcPts val="3118"/>
              </a:lnSpc>
            </a:pPr>
          </a:p>
          <a:p>
            <a:pPr algn="just">
              <a:lnSpc>
                <a:spcPts val="3118"/>
              </a:lnSpc>
            </a:pPr>
          </a:p>
          <a:p>
            <a:pPr algn="just">
              <a:lnSpc>
                <a:spcPts val="311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3777703" y="9694069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Shrikhand"/>
                  <a:ea typeface="Shrikhand"/>
                  <a:cs typeface="Shrikhand"/>
                  <a:sym typeface="Shrikhand"/>
                </a:rPr>
                <a:t>SEVA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891851" y="1660181"/>
            <a:ext cx="8153052" cy="5006105"/>
          </a:xfrm>
          <a:custGeom>
            <a:avLst/>
            <a:gdLst/>
            <a:ahLst/>
            <a:cxnLst/>
            <a:rect r="r" b="b" t="t" l="l"/>
            <a:pathLst>
              <a:path h="5006105" w="8153052">
                <a:moveTo>
                  <a:pt x="0" y="0"/>
                </a:moveTo>
                <a:lnTo>
                  <a:pt x="8153052" y="0"/>
                </a:lnTo>
                <a:lnTo>
                  <a:pt x="8153052" y="5006105"/>
                </a:lnTo>
                <a:lnTo>
                  <a:pt x="0" y="5006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62" t="0" r="-6807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51308" y="6730715"/>
            <a:ext cx="17785384" cy="2527585"/>
            <a:chOff x="0" y="0"/>
            <a:chExt cx="1157535" cy="1645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7535" cy="164504"/>
            </a:xfrm>
            <a:custGeom>
              <a:avLst/>
              <a:gdLst/>
              <a:ahLst/>
              <a:cxnLst/>
              <a:rect r="r" b="b" t="t" l="l"/>
              <a:pathLst>
                <a:path h="164504" w="1157535">
                  <a:moveTo>
                    <a:pt x="8502" y="0"/>
                  </a:moveTo>
                  <a:lnTo>
                    <a:pt x="1149034" y="0"/>
                  </a:lnTo>
                  <a:cubicBezTo>
                    <a:pt x="1153729" y="0"/>
                    <a:pt x="1157535" y="3806"/>
                    <a:pt x="1157535" y="8502"/>
                  </a:cubicBezTo>
                  <a:lnTo>
                    <a:pt x="1157535" y="156002"/>
                  </a:lnTo>
                  <a:cubicBezTo>
                    <a:pt x="1157535" y="160698"/>
                    <a:pt x="1153729" y="164504"/>
                    <a:pt x="1149034" y="164504"/>
                  </a:cubicBezTo>
                  <a:lnTo>
                    <a:pt x="8502" y="164504"/>
                  </a:lnTo>
                  <a:cubicBezTo>
                    <a:pt x="6247" y="164504"/>
                    <a:pt x="4085" y="163608"/>
                    <a:pt x="2490" y="162014"/>
                  </a:cubicBezTo>
                  <a:cubicBezTo>
                    <a:pt x="896" y="160420"/>
                    <a:pt x="0" y="158257"/>
                    <a:pt x="0" y="156002"/>
                  </a:cubicBezTo>
                  <a:lnTo>
                    <a:pt x="0" y="8502"/>
                  </a:lnTo>
                  <a:cubicBezTo>
                    <a:pt x="0" y="3806"/>
                    <a:pt x="3806" y="0"/>
                    <a:pt x="8502" y="0"/>
                  </a:cubicBezTo>
                  <a:close/>
                </a:path>
              </a:pathLst>
            </a:custGeom>
            <a:solidFill>
              <a:srgbClr val="7FCB27">
                <a:alpha val="3764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57535" cy="183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13263" y="2248"/>
            <a:ext cx="12304414" cy="1543050"/>
            <a:chOff x="0" y="0"/>
            <a:chExt cx="3240669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40669" cy="406400"/>
            </a:xfrm>
            <a:custGeom>
              <a:avLst/>
              <a:gdLst/>
              <a:ahLst/>
              <a:cxnLst/>
              <a:rect r="r" b="b" t="t" l="l"/>
              <a:pathLst>
                <a:path h="406400" w="3240669">
                  <a:moveTo>
                    <a:pt x="324066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3240669" y="406400"/>
                  </a:lnTo>
                  <a:lnTo>
                    <a:pt x="3139069" y="203200"/>
                  </a:lnTo>
                  <a:lnTo>
                    <a:pt x="3240669" y="0"/>
                  </a:lnTo>
                  <a:close/>
                </a:path>
              </a:pathLst>
            </a:custGeom>
            <a:solidFill>
              <a:srgbClr val="020C4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88900" y="-19050"/>
              <a:ext cx="3062869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139131" y="-9016"/>
            <a:ext cx="11530998" cy="135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9"/>
              </a:lnSpc>
            </a:pPr>
            <a:r>
              <a:rPr lang="en-US" sz="386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EchoEdge  Low Latency &amp; Efficient Voice Activator </a:t>
            </a:r>
          </a:p>
          <a:p>
            <a:pPr algn="ctr">
              <a:lnSpc>
                <a:spcPts val="5409"/>
              </a:lnSpc>
            </a:pPr>
            <a:r>
              <a:rPr lang="en-US" sz="386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for Edge Devices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67565" y="7182778"/>
            <a:ext cx="17569291" cy="235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On-Device Keyword Spotting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Runs </a:t>
            </a: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TinyWakeWordNet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(custom DS-CNN, 37.7KB) for offline trigger-word detection.</a:t>
            </a:r>
          </a:p>
          <a:p>
            <a:pPr algn="l">
              <a:lnSpc>
                <a:spcPts val="3073"/>
              </a:lnSpc>
            </a:pP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Audio Streaming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Uses a </a:t>
            </a: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pre-roll buffer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persistent WebSocket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stream raw audio to </a:t>
            </a: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Moonshine ASR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3073"/>
              </a:lnSpc>
            </a:pP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Debounced Triggering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Requires </a:t>
            </a: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 consecutive detections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before firing, cutting false accepts </a:t>
            </a:r>
            <a:r>
              <a:rPr lang="en-US" sz="256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12x</a:t>
            </a:r>
            <a:r>
              <a:rPr lang="en-US" sz="25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testing.</a:t>
            </a:r>
          </a:p>
          <a:p>
            <a:pPr algn="l">
              <a:lnSpc>
                <a:spcPts val="307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463458" y="5124450"/>
            <a:ext cx="13854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(targeted)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2930" cy="10200351"/>
          </a:xfrm>
          <a:custGeom>
            <a:avLst/>
            <a:gdLst/>
            <a:ahLst/>
            <a:cxnLst/>
            <a:rect r="r" b="b" t="t" l="l"/>
            <a:pathLst>
              <a:path h="10200351" w="18282930">
                <a:moveTo>
                  <a:pt x="0" y="0"/>
                </a:moveTo>
                <a:lnTo>
                  <a:pt x="18282930" y="0"/>
                </a:lnTo>
                <a:lnTo>
                  <a:pt x="18282930" y="10200351"/>
                </a:lnTo>
                <a:lnTo>
                  <a:pt x="0" y="1020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04939"/>
            <a:ext cx="18288000" cy="682061"/>
            <a:chOff x="0" y="0"/>
            <a:chExt cx="24384000" cy="909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909414"/>
            </a:xfrm>
            <a:custGeom>
              <a:avLst/>
              <a:gdLst/>
              <a:ahLst/>
              <a:cxnLst/>
              <a:rect r="r" b="b" t="t" l="l"/>
              <a:pathLst>
                <a:path h="90941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09414"/>
                  </a:lnTo>
                  <a:lnTo>
                    <a:pt x="0" y="909414"/>
                  </a:lnTo>
                  <a:close/>
                </a:path>
              </a:pathLst>
            </a:custGeom>
            <a:solidFill>
              <a:srgbClr val="020C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748853" y="0"/>
            <a:ext cx="10278166" cy="1543050"/>
            <a:chOff x="0" y="0"/>
            <a:chExt cx="2707007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7007" cy="406400"/>
            </a:xfrm>
            <a:custGeom>
              <a:avLst/>
              <a:gdLst/>
              <a:ahLst/>
              <a:cxnLst/>
              <a:rect r="r" b="b" t="t" l="l"/>
              <a:pathLst>
                <a:path h="406400" w="2707007">
                  <a:moveTo>
                    <a:pt x="2707007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707007" y="406400"/>
                  </a:lnTo>
                  <a:lnTo>
                    <a:pt x="2605407" y="203200"/>
                  </a:lnTo>
                  <a:lnTo>
                    <a:pt x="2707007" y="0"/>
                  </a:lnTo>
                  <a:close/>
                </a:path>
              </a:pathLst>
            </a:custGeom>
            <a:solidFill>
              <a:srgbClr val="020C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8900" y="-19050"/>
              <a:ext cx="2529207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0066" y="-402704"/>
            <a:ext cx="16459200" cy="2094809"/>
            <a:chOff x="0" y="0"/>
            <a:chExt cx="21945600" cy="2793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793079"/>
            </a:xfrm>
            <a:custGeom>
              <a:avLst/>
              <a:gdLst/>
              <a:ahLst/>
              <a:cxnLst/>
              <a:rect r="r" b="b" t="t" l="l"/>
              <a:pathLst>
                <a:path h="27930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93079"/>
                  </a:lnTo>
                  <a:lnTo>
                    <a:pt x="0" y="27930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174" r="0" b="-940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2802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TECHNICAL APPROACH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2329880"/>
            <a:ext cx="8014474" cy="1986425"/>
            <a:chOff x="0" y="0"/>
            <a:chExt cx="10685965" cy="264856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685965" cy="2648567"/>
              <a:chOff x="0" y="0"/>
              <a:chExt cx="10316159" cy="25569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316184" cy="2556873"/>
              </a:xfrm>
              <a:custGeom>
                <a:avLst/>
                <a:gdLst/>
                <a:ahLst/>
                <a:cxnLst/>
                <a:rect r="r" b="b" t="t" l="l"/>
                <a:pathLst>
                  <a:path h="2556873" w="10316184">
                    <a:moveTo>
                      <a:pt x="0" y="102242"/>
                    </a:moveTo>
                    <a:cubicBezTo>
                      <a:pt x="0" y="45805"/>
                      <a:pt x="45928" y="0"/>
                      <a:pt x="102517" y="0"/>
                    </a:cubicBezTo>
                    <a:lnTo>
                      <a:pt x="10213665" y="0"/>
                    </a:lnTo>
                    <a:cubicBezTo>
                      <a:pt x="10270255" y="0"/>
                      <a:pt x="10316184" y="45805"/>
                      <a:pt x="10316184" y="102242"/>
                    </a:cubicBezTo>
                    <a:lnTo>
                      <a:pt x="10316184" y="2454631"/>
                    </a:lnTo>
                    <a:cubicBezTo>
                      <a:pt x="10316184" y="2511069"/>
                      <a:pt x="10270255" y="2556873"/>
                      <a:pt x="10213665" y="2556873"/>
                    </a:cubicBezTo>
                    <a:lnTo>
                      <a:pt x="102517" y="2556873"/>
                    </a:lnTo>
                    <a:cubicBezTo>
                      <a:pt x="45928" y="2556873"/>
                      <a:pt x="0" y="2511069"/>
                      <a:pt x="0" y="2454631"/>
                    </a:cubicBezTo>
                    <a:close/>
                  </a:path>
                </a:pathLst>
              </a:custGeom>
              <a:solidFill>
                <a:srgbClr val="EAF3FB"/>
              </a:solidFill>
              <a:ln w="14288" cap="sq">
                <a:solidFill>
                  <a:srgbClr val="CFE3F5"/>
                </a:solidFill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2057" y="146352"/>
              <a:ext cx="10281852" cy="234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3"/>
                </a:lnSpc>
              </a:pPr>
              <a:r>
                <a:rPr lang="en-US" sz="2486" b="true">
                  <a:solidFill>
                    <a:srgbClr val="0B5C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Technologies to be used</a:t>
              </a:r>
            </a:p>
            <a:p>
              <a:pPr algn="l">
                <a:lnSpc>
                  <a:spcPts val="2237"/>
                </a:lnSpc>
              </a:pP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Hardware: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ESP32/ESP32-S3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(target) +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I2S MEMS mic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|  Languages: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(training), C/C++ (planned)  |  On-device ML: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PyTorch — TinyWakeWordNet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(DS-CNN, 37.7KB)  |  Dataset: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Piper TTS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across 84 voices  |  Streaming: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WebSocket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+ raw PCM16  |  VAD: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Silero VAD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|  Cloud ASR: </a:t>
              </a:r>
              <a:r>
                <a:rPr lang="en-US" sz="1864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Moonshine</a:t>
              </a:r>
              <a:r>
                <a:rPr lang="en-US" sz="18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(open-source, MIT)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90086" y="7498795"/>
            <a:ext cx="9058046" cy="2074961"/>
            <a:chOff x="0" y="0"/>
            <a:chExt cx="12077395" cy="276661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077395" cy="2766615"/>
              <a:chOff x="0" y="0"/>
              <a:chExt cx="11182325" cy="256157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182350" cy="2561542"/>
              </a:xfrm>
              <a:custGeom>
                <a:avLst/>
                <a:gdLst/>
                <a:ahLst/>
                <a:cxnLst/>
                <a:rect r="r" b="b" t="t" l="l"/>
                <a:pathLst>
                  <a:path h="2561542" w="11182350">
                    <a:moveTo>
                      <a:pt x="0" y="102429"/>
                    </a:moveTo>
                    <a:cubicBezTo>
                      <a:pt x="0" y="45888"/>
                      <a:pt x="49784" y="0"/>
                      <a:pt x="111125" y="0"/>
                    </a:cubicBezTo>
                    <a:lnTo>
                      <a:pt x="11071225" y="0"/>
                    </a:lnTo>
                    <a:cubicBezTo>
                      <a:pt x="11132566" y="0"/>
                      <a:pt x="11182350" y="45888"/>
                      <a:pt x="11182350" y="102429"/>
                    </a:cubicBezTo>
                    <a:lnTo>
                      <a:pt x="11182350" y="2459113"/>
                    </a:lnTo>
                    <a:cubicBezTo>
                      <a:pt x="11182350" y="2515654"/>
                      <a:pt x="11132566" y="2561542"/>
                      <a:pt x="11071225" y="2561542"/>
                    </a:cubicBezTo>
                    <a:lnTo>
                      <a:pt x="111125" y="2561542"/>
                    </a:lnTo>
                    <a:cubicBezTo>
                      <a:pt x="49784" y="2561542"/>
                      <a:pt x="0" y="2515654"/>
                      <a:pt x="0" y="2459113"/>
                    </a:cubicBezTo>
                    <a:close/>
                  </a:path>
                </a:pathLst>
              </a:custGeom>
              <a:solidFill>
                <a:srgbClr val="EAF3FB"/>
              </a:solidFill>
              <a:ln w="14288" cap="sq">
                <a:solidFill>
                  <a:srgbClr val="CFE3F5"/>
                </a:solidFill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228367" y="143477"/>
              <a:ext cx="11620662" cy="246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0"/>
                </a:lnSpc>
              </a:pPr>
              <a:r>
                <a:rPr lang="en-US" sz="2592" b="true">
                  <a:solidFill>
                    <a:srgbClr val="0B5CA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 and process for implementation</a:t>
              </a:r>
            </a:p>
            <a:p>
              <a:pPr algn="l">
                <a:lnSpc>
                  <a:spcPts val="2332"/>
                </a:lnSpc>
              </a:pPr>
              <a:r>
                <a:rPr lang="en-US" sz="194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Phase 1 Synthetic data (Piper TTS, 84 voices)  →  Phase 2 Train DS-CNN with real-speech negatives (LibriSpeech) + SpecAugment  →  Phase 3 Live pipeline (mel features, pre-roll buffer, debounced confirmation)  →  Phase 4 Persistent WebSocket streaming to Moonshine ASR  →  Phase 5 5.4-hour false-accept soak test (12x improvement) + LOSO validation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77703" y="9672126"/>
            <a:ext cx="4267200" cy="547688"/>
            <a:chOff x="0" y="0"/>
            <a:chExt cx="5689600" cy="730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23" id="23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Shrikhand"/>
                  <a:ea typeface="Shrikhand"/>
                  <a:cs typeface="Shrikhand"/>
                  <a:sym typeface="Shrikhand"/>
                </a:rPr>
                <a:t>SEVA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8490086" y="1692105"/>
            <a:ext cx="9379103" cy="4479721"/>
          </a:xfrm>
          <a:custGeom>
            <a:avLst/>
            <a:gdLst/>
            <a:ahLst/>
            <a:cxnLst/>
            <a:rect r="r" b="b" t="t" l="l"/>
            <a:pathLst>
              <a:path h="4479721" w="9379103">
                <a:moveTo>
                  <a:pt x="0" y="0"/>
                </a:moveTo>
                <a:lnTo>
                  <a:pt x="9379103" y="0"/>
                </a:lnTo>
                <a:lnTo>
                  <a:pt x="9379103" y="4479721"/>
                </a:lnTo>
                <a:lnTo>
                  <a:pt x="0" y="4479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281" r="0" b="-8254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8700" y="4190795"/>
            <a:ext cx="6626017" cy="4905801"/>
          </a:xfrm>
          <a:custGeom>
            <a:avLst/>
            <a:gdLst/>
            <a:ahLst/>
            <a:cxnLst/>
            <a:rect r="r" b="b" t="t" l="l"/>
            <a:pathLst>
              <a:path h="4905801" w="6626017">
                <a:moveTo>
                  <a:pt x="0" y="0"/>
                </a:moveTo>
                <a:lnTo>
                  <a:pt x="6626017" y="0"/>
                </a:lnTo>
                <a:lnTo>
                  <a:pt x="6626017" y="4905801"/>
                </a:lnTo>
                <a:lnTo>
                  <a:pt x="0" y="4905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5610393" y="3105894"/>
            <a:ext cx="774577" cy="158171"/>
            <a:chOff x="0" y="0"/>
            <a:chExt cx="204004" cy="416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004" cy="41658"/>
            </a:xfrm>
            <a:custGeom>
              <a:avLst/>
              <a:gdLst/>
              <a:ahLst/>
              <a:cxnLst/>
              <a:rect r="r" b="b" t="t" l="l"/>
              <a:pathLst>
                <a:path h="41658" w="204004">
                  <a:moveTo>
                    <a:pt x="0" y="0"/>
                  </a:moveTo>
                  <a:lnTo>
                    <a:pt x="204004" y="0"/>
                  </a:lnTo>
                  <a:lnTo>
                    <a:pt x="204004" y="41658"/>
                  </a:lnTo>
                  <a:lnTo>
                    <a:pt x="0" y="41658"/>
                  </a:lnTo>
                  <a:close/>
                </a:path>
              </a:pathLst>
            </a:custGeom>
            <a:solidFill>
              <a:srgbClr val="0070C0">
                <a:alpha val="98824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04004" cy="60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179637" y="3096369"/>
            <a:ext cx="563608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7"/>
              </a:lnSpc>
              <a:spcBef>
                <a:spcPct val="0"/>
              </a:spcBef>
            </a:pPr>
            <a:r>
              <a:rPr lang="en-US" b="true" sz="10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moonshine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73882" cy="10160519"/>
          </a:xfrm>
          <a:custGeom>
            <a:avLst/>
            <a:gdLst/>
            <a:ahLst/>
            <a:cxnLst/>
            <a:rect r="r" b="b" t="t" l="l"/>
            <a:pathLst>
              <a:path h="10160519" w="18473882">
                <a:moveTo>
                  <a:pt x="0" y="0"/>
                </a:moveTo>
                <a:lnTo>
                  <a:pt x="18473882" y="0"/>
                </a:lnTo>
                <a:lnTo>
                  <a:pt x="18473882" y="10160519"/>
                </a:lnTo>
                <a:lnTo>
                  <a:pt x="0" y="10160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0" r="0" b="-72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96450"/>
            <a:ext cx="18288000" cy="590550"/>
            <a:chOff x="0" y="0"/>
            <a:chExt cx="24384000" cy="787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87400"/>
            </a:xfrm>
            <a:custGeom>
              <a:avLst/>
              <a:gdLst/>
              <a:ahLst/>
              <a:cxnLst/>
              <a:rect r="r" b="b" t="t" l="l"/>
              <a:pathLst>
                <a:path h="787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20C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02388" y="-61999"/>
            <a:ext cx="11168825" cy="1288108"/>
            <a:chOff x="0" y="0"/>
            <a:chExt cx="2941583" cy="339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1583" cy="339255"/>
            </a:xfrm>
            <a:custGeom>
              <a:avLst/>
              <a:gdLst/>
              <a:ahLst/>
              <a:cxnLst/>
              <a:rect r="r" b="b" t="t" l="l"/>
              <a:pathLst>
                <a:path h="339255" w="2941583">
                  <a:moveTo>
                    <a:pt x="2941583" y="0"/>
                  </a:moveTo>
                  <a:lnTo>
                    <a:pt x="0" y="0"/>
                  </a:lnTo>
                  <a:lnTo>
                    <a:pt x="101600" y="169627"/>
                  </a:lnTo>
                  <a:lnTo>
                    <a:pt x="0" y="339255"/>
                  </a:lnTo>
                  <a:lnTo>
                    <a:pt x="2941583" y="339255"/>
                  </a:lnTo>
                  <a:lnTo>
                    <a:pt x="2839983" y="169627"/>
                  </a:lnTo>
                  <a:lnTo>
                    <a:pt x="2941583" y="0"/>
                  </a:lnTo>
                  <a:close/>
                </a:path>
              </a:pathLst>
            </a:custGeom>
            <a:solidFill>
              <a:srgbClr val="020C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8900" y="-19050"/>
              <a:ext cx="2763783" cy="358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436862" y="-447532"/>
            <a:ext cx="24247324" cy="2059173"/>
            <a:chOff x="0" y="0"/>
            <a:chExt cx="30628198" cy="2601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628199" cy="2601061"/>
            </a:xfrm>
            <a:custGeom>
              <a:avLst/>
              <a:gdLst/>
              <a:ahLst/>
              <a:cxnLst/>
              <a:rect r="r" b="b" t="t" l="l"/>
              <a:pathLst>
                <a:path h="2601061" w="30628199">
                  <a:moveTo>
                    <a:pt x="0" y="0"/>
                  </a:moveTo>
                  <a:lnTo>
                    <a:pt x="30628199" y="0"/>
                  </a:lnTo>
                  <a:lnTo>
                    <a:pt x="30628199" y="2601061"/>
                  </a:lnTo>
                  <a:lnTo>
                    <a:pt x="0" y="26010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55" r="28348" b="-10834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0628198" cy="2601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99"/>
                </a:lnSpc>
              </a:pPr>
              <a:r>
                <a:rPr lang="en-US" sz="649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FEASIBILITY AND VIABILITY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84157" y="9717881"/>
            <a:ext cx="4267200" cy="547688"/>
            <a:chOff x="0" y="0"/>
            <a:chExt cx="568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5084" y="221760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Shrikhand"/>
                  <a:ea typeface="Shrikhand"/>
                  <a:cs typeface="Shrikhand"/>
                  <a:sym typeface="Shrikhand"/>
                </a:rPr>
                <a:t>SEVA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6583" y="49559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18045" y="1388034"/>
            <a:ext cx="679941" cy="679941"/>
          </a:xfrm>
          <a:custGeom>
            <a:avLst/>
            <a:gdLst/>
            <a:ahLst/>
            <a:cxnLst/>
            <a:rect r="r" b="b" t="t" l="l"/>
            <a:pathLst>
              <a:path h="679941" w="679941">
                <a:moveTo>
                  <a:pt x="0" y="0"/>
                </a:moveTo>
                <a:lnTo>
                  <a:pt x="679941" y="0"/>
                </a:lnTo>
                <a:lnTo>
                  <a:pt x="679941" y="679941"/>
                </a:lnTo>
                <a:lnTo>
                  <a:pt x="0" y="679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75397" y="4766239"/>
            <a:ext cx="565238" cy="628042"/>
          </a:xfrm>
          <a:custGeom>
            <a:avLst/>
            <a:gdLst/>
            <a:ahLst/>
            <a:cxnLst/>
            <a:rect r="r" b="b" t="t" l="l"/>
            <a:pathLst>
              <a:path h="628042" w="565238">
                <a:moveTo>
                  <a:pt x="0" y="0"/>
                </a:moveTo>
                <a:lnTo>
                  <a:pt x="565238" y="0"/>
                </a:lnTo>
                <a:lnTo>
                  <a:pt x="565238" y="628041"/>
                </a:lnTo>
                <a:lnTo>
                  <a:pt x="0" y="6280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9839" y="7254561"/>
            <a:ext cx="596355" cy="764557"/>
          </a:xfrm>
          <a:custGeom>
            <a:avLst/>
            <a:gdLst/>
            <a:ahLst/>
            <a:cxnLst/>
            <a:rect r="r" b="b" t="t" l="l"/>
            <a:pathLst>
              <a:path h="764557" w="596355">
                <a:moveTo>
                  <a:pt x="0" y="0"/>
                </a:moveTo>
                <a:lnTo>
                  <a:pt x="596354" y="0"/>
                </a:lnTo>
                <a:lnTo>
                  <a:pt x="596354" y="764557"/>
                </a:lnTo>
                <a:lnTo>
                  <a:pt x="0" y="764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53027" y="4676120"/>
            <a:ext cx="16292092" cy="2346971"/>
            <a:chOff x="0" y="0"/>
            <a:chExt cx="3352282" cy="4829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52282" cy="482916"/>
            </a:xfrm>
            <a:custGeom>
              <a:avLst/>
              <a:gdLst/>
              <a:ahLst/>
              <a:cxnLst/>
              <a:rect r="r" b="b" t="t" l="l"/>
              <a:pathLst>
                <a:path h="482916" w="3352282">
                  <a:moveTo>
                    <a:pt x="9281" y="0"/>
                  </a:moveTo>
                  <a:lnTo>
                    <a:pt x="3343001" y="0"/>
                  </a:lnTo>
                  <a:cubicBezTo>
                    <a:pt x="3345462" y="0"/>
                    <a:pt x="3347823" y="978"/>
                    <a:pt x="3349564" y="2718"/>
                  </a:cubicBezTo>
                  <a:cubicBezTo>
                    <a:pt x="3351304" y="4459"/>
                    <a:pt x="3352282" y="6820"/>
                    <a:pt x="3352282" y="9281"/>
                  </a:cubicBezTo>
                  <a:lnTo>
                    <a:pt x="3352282" y="473635"/>
                  </a:lnTo>
                  <a:cubicBezTo>
                    <a:pt x="3352282" y="478760"/>
                    <a:pt x="3348127" y="482916"/>
                    <a:pt x="3343001" y="482916"/>
                  </a:cubicBezTo>
                  <a:lnTo>
                    <a:pt x="9281" y="482916"/>
                  </a:lnTo>
                  <a:cubicBezTo>
                    <a:pt x="4155" y="482916"/>
                    <a:pt x="0" y="478760"/>
                    <a:pt x="0" y="473635"/>
                  </a:cubicBezTo>
                  <a:lnTo>
                    <a:pt x="0" y="9281"/>
                  </a:lnTo>
                  <a:cubicBezTo>
                    <a:pt x="0" y="4155"/>
                    <a:pt x="4155" y="0"/>
                    <a:pt x="9281" y="0"/>
                  </a:cubicBezTo>
                  <a:close/>
                </a:path>
              </a:pathLst>
            </a:custGeom>
            <a:solidFill>
              <a:srgbClr val="7FCB27">
                <a:alpha val="36863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352282" cy="501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3027" y="1388034"/>
            <a:ext cx="16292092" cy="3126161"/>
            <a:chOff x="0" y="0"/>
            <a:chExt cx="3352282" cy="6432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52282" cy="643243"/>
            </a:xfrm>
            <a:custGeom>
              <a:avLst/>
              <a:gdLst/>
              <a:ahLst/>
              <a:cxnLst/>
              <a:rect r="r" b="b" t="t" l="l"/>
              <a:pathLst>
                <a:path h="643243" w="3352282">
                  <a:moveTo>
                    <a:pt x="9281" y="0"/>
                  </a:moveTo>
                  <a:lnTo>
                    <a:pt x="3343001" y="0"/>
                  </a:lnTo>
                  <a:cubicBezTo>
                    <a:pt x="3345462" y="0"/>
                    <a:pt x="3347823" y="978"/>
                    <a:pt x="3349564" y="2718"/>
                  </a:cubicBezTo>
                  <a:cubicBezTo>
                    <a:pt x="3351304" y="4459"/>
                    <a:pt x="3352282" y="6820"/>
                    <a:pt x="3352282" y="9281"/>
                  </a:cubicBezTo>
                  <a:lnTo>
                    <a:pt x="3352282" y="633962"/>
                  </a:lnTo>
                  <a:cubicBezTo>
                    <a:pt x="3352282" y="639088"/>
                    <a:pt x="3348127" y="643243"/>
                    <a:pt x="3343001" y="643243"/>
                  </a:cubicBezTo>
                  <a:lnTo>
                    <a:pt x="9281" y="643243"/>
                  </a:lnTo>
                  <a:cubicBezTo>
                    <a:pt x="4155" y="643243"/>
                    <a:pt x="0" y="639088"/>
                    <a:pt x="0" y="633962"/>
                  </a:cubicBezTo>
                  <a:lnTo>
                    <a:pt x="0" y="9281"/>
                  </a:lnTo>
                  <a:cubicBezTo>
                    <a:pt x="0" y="4155"/>
                    <a:pt x="4155" y="0"/>
                    <a:pt x="9281" y="0"/>
                  </a:cubicBezTo>
                  <a:close/>
                </a:path>
              </a:pathLst>
            </a:custGeom>
            <a:solidFill>
              <a:srgbClr val="428DFF">
                <a:alpha val="36863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352282" cy="66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3027" y="7185016"/>
            <a:ext cx="16292092" cy="2210419"/>
            <a:chOff x="0" y="0"/>
            <a:chExt cx="3352282" cy="4548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52282" cy="454819"/>
            </a:xfrm>
            <a:custGeom>
              <a:avLst/>
              <a:gdLst/>
              <a:ahLst/>
              <a:cxnLst/>
              <a:rect r="r" b="b" t="t" l="l"/>
              <a:pathLst>
                <a:path h="454819" w="3352282">
                  <a:moveTo>
                    <a:pt x="9281" y="0"/>
                  </a:moveTo>
                  <a:lnTo>
                    <a:pt x="3343001" y="0"/>
                  </a:lnTo>
                  <a:cubicBezTo>
                    <a:pt x="3345462" y="0"/>
                    <a:pt x="3347823" y="978"/>
                    <a:pt x="3349564" y="2718"/>
                  </a:cubicBezTo>
                  <a:cubicBezTo>
                    <a:pt x="3351304" y="4459"/>
                    <a:pt x="3352282" y="6820"/>
                    <a:pt x="3352282" y="9281"/>
                  </a:cubicBezTo>
                  <a:lnTo>
                    <a:pt x="3352282" y="445538"/>
                  </a:lnTo>
                  <a:cubicBezTo>
                    <a:pt x="3352282" y="450663"/>
                    <a:pt x="3348127" y="454819"/>
                    <a:pt x="3343001" y="454819"/>
                  </a:cubicBezTo>
                  <a:lnTo>
                    <a:pt x="9281" y="454819"/>
                  </a:lnTo>
                  <a:cubicBezTo>
                    <a:pt x="4155" y="454819"/>
                    <a:pt x="0" y="450663"/>
                    <a:pt x="0" y="445538"/>
                  </a:cubicBezTo>
                  <a:lnTo>
                    <a:pt x="0" y="9281"/>
                  </a:lnTo>
                  <a:cubicBezTo>
                    <a:pt x="0" y="4155"/>
                    <a:pt x="4155" y="0"/>
                    <a:pt x="9281" y="0"/>
                  </a:cubicBezTo>
                  <a:close/>
                </a:path>
              </a:pathLst>
            </a:custGeom>
            <a:solidFill>
              <a:srgbClr val="428DFF">
                <a:alpha val="36863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352282" cy="47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68997" y="1451811"/>
            <a:ext cx="15992880" cy="832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7"/>
              </a:lnSpc>
            </a:pPr>
            <a:r>
              <a:rPr lang="en-US" sz="2939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Technical Feasibility</a:t>
            </a:r>
          </a:p>
          <a:p>
            <a:pPr algn="l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Uses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standard 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components including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ESP32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microcontroller and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INMP441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digital MEMS microphone as the target deployment hardware.</a:t>
            </a:r>
          </a:p>
          <a:p>
            <a:pPr algn="just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Targets &lt;256KB RAM, &lt;10% CPU with a custom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DS-CNN (TinyWakeWordNet)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already measuring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37.7KB, 0.64ms inference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just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Uses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PyTorch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training, with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Piper TTS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generating synthetic data across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84 voices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rapid dataset creation.</a:t>
            </a:r>
          </a:p>
          <a:p>
            <a:pPr algn="just">
              <a:lnSpc>
                <a:spcPts val="3275"/>
              </a:lnSpc>
            </a:pPr>
          </a:p>
          <a:p>
            <a:pPr algn="just">
              <a:lnSpc>
                <a:spcPts val="3527"/>
              </a:lnSpc>
            </a:pPr>
            <a:r>
              <a:rPr lang="en-US" sz="2939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Execution Viability</a:t>
            </a:r>
          </a:p>
          <a:p>
            <a:pPr algn="l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Eliminates procurement delays and API billing overhead by using existing hardware, an open-source pipeline (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PyTorch, Piper TTS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), and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Moonshine ASR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hence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architecture is low-cost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 team follows a realistic timeline with clearly delineated team roles handling parallel workflows (Data Collection, Firmware, ASR Integration, and Testing).</a:t>
            </a:r>
          </a:p>
          <a:p>
            <a:pPr algn="l">
              <a:lnSpc>
                <a:spcPts val="3275"/>
              </a:lnSpc>
            </a:pPr>
          </a:p>
          <a:p>
            <a:pPr algn="l">
              <a:lnSpc>
                <a:spcPts val="3527"/>
              </a:lnSpc>
            </a:pPr>
            <a:r>
              <a:rPr lang="en-US" sz="2939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Risk Mitigation</a:t>
            </a:r>
          </a:p>
          <a:p>
            <a:pPr algn="l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5.4-hour false-accept soak test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on real unheard speech found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120.6 false triggers/hour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fixed to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10.3/hour (12x)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via real-speech negatives (LibriSpeech).</a:t>
            </a:r>
          </a:p>
          <a:p>
            <a:pPr algn="l" marL="589392" indent="-294696" lvl="1">
              <a:lnSpc>
                <a:spcPts val="3275"/>
              </a:lnSpc>
              <a:buFont typeface="Arial"/>
              <a:buChar char="•"/>
            </a:pP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Leave-one-speaker-out validation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98.6% on known voices vs. </a:t>
            </a:r>
            <a:r>
              <a:rPr lang="en-US" b="true" sz="27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71-75% on unseen speakers</a:t>
            </a:r>
            <a:r>
              <a:rPr lang="en-US" sz="27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closing this gap with more speaker recordings.</a:t>
            </a:r>
          </a:p>
          <a:p>
            <a:pPr algn="just">
              <a:lnSpc>
                <a:spcPts val="32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910"/>
            <a:ext cx="18363119" cy="10245090"/>
          </a:xfrm>
          <a:custGeom>
            <a:avLst/>
            <a:gdLst/>
            <a:ahLst/>
            <a:cxnLst/>
            <a:rect r="r" b="b" t="t" l="l"/>
            <a:pathLst>
              <a:path h="10245090" w="18363119">
                <a:moveTo>
                  <a:pt x="0" y="0"/>
                </a:moveTo>
                <a:lnTo>
                  <a:pt x="18363119" y="0"/>
                </a:lnTo>
                <a:lnTo>
                  <a:pt x="18363119" y="10245090"/>
                </a:lnTo>
                <a:lnTo>
                  <a:pt x="0" y="10245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0528" y="9724731"/>
            <a:ext cx="18699717" cy="662282"/>
            <a:chOff x="0" y="0"/>
            <a:chExt cx="24384000" cy="86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863600"/>
            </a:xfrm>
            <a:custGeom>
              <a:avLst/>
              <a:gdLst/>
              <a:ahLst/>
              <a:cxnLst/>
              <a:rect r="r" b="b" t="t" l="l"/>
              <a:pathLst>
                <a:path h="863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020C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007988" y="0"/>
            <a:ext cx="10072522" cy="1142351"/>
            <a:chOff x="0" y="0"/>
            <a:chExt cx="2652845" cy="3008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2845" cy="300866"/>
            </a:xfrm>
            <a:custGeom>
              <a:avLst/>
              <a:gdLst/>
              <a:ahLst/>
              <a:cxnLst/>
              <a:rect r="r" b="b" t="t" l="l"/>
              <a:pathLst>
                <a:path h="300866" w="2652845">
                  <a:moveTo>
                    <a:pt x="2652845" y="0"/>
                  </a:moveTo>
                  <a:lnTo>
                    <a:pt x="0" y="0"/>
                  </a:lnTo>
                  <a:lnTo>
                    <a:pt x="101600" y="150433"/>
                  </a:lnTo>
                  <a:lnTo>
                    <a:pt x="0" y="300866"/>
                  </a:lnTo>
                  <a:lnTo>
                    <a:pt x="2652845" y="300866"/>
                  </a:lnTo>
                  <a:lnTo>
                    <a:pt x="2551245" y="150433"/>
                  </a:lnTo>
                  <a:lnTo>
                    <a:pt x="2652845" y="0"/>
                  </a:lnTo>
                  <a:close/>
                </a:path>
              </a:pathLst>
            </a:custGeom>
            <a:solidFill>
              <a:srgbClr val="020C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8900" y="-19050"/>
              <a:ext cx="2475045" cy="319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7343" y="-530873"/>
            <a:ext cx="16534807" cy="2068632"/>
            <a:chOff x="0" y="0"/>
            <a:chExt cx="21945600" cy="27455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745565"/>
            </a:xfrm>
            <a:custGeom>
              <a:avLst/>
              <a:gdLst/>
              <a:ahLst/>
              <a:cxnLst/>
              <a:rect r="r" b="b" t="t" l="l"/>
              <a:pathLst>
                <a:path h="2745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45565"/>
                  </a:lnTo>
                  <a:lnTo>
                    <a:pt x="0" y="2745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115" r="0" b="-973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2745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99"/>
                </a:lnSpc>
              </a:pPr>
              <a:r>
                <a:rPr lang="en-US" sz="649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IMPACT AND BENEFITS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704934" y="9724731"/>
            <a:ext cx="339969" cy="547688"/>
            <a:chOff x="0" y="0"/>
            <a:chExt cx="453292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3292" cy="730250"/>
            </a:xfrm>
            <a:custGeom>
              <a:avLst/>
              <a:gdLst/>
              <a:ahLst/>
              <a:cxnLst/>
              <a:rect r="r" b="b" t="t" l="l"/>
              <a:pathLst>
                <a:path h="730250" w="453292">
                  <a:moveTo>
                    <a:pt x="0" y="0"/>
                  </a:moveTo>
                  <a:lnTo>
                    <a:pt x="453292" y="0"/>
                  </a:lnTo>
                  <a:lnTo>
                    <a:pt x="45329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-1155172" b="-1018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53292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4305" y="41910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Shrikhand"/>
                  <a:ea typeface="Shrikhand"/>
                  <a:cs typeface="Shrikhand"/>
                  <a:sym typeface="Shrikhand"/>
                </a:rPr>
                <a:t>SEVA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973629" y="1142351"/>
            <a:ext cx="12950141" cy="834437"/>
            <a:chOff x="0" y="0"/>
            <a:chExt cx="2664638" cy="1716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64638" cy="171695"/>
            </a:xfrm>
            <a:custGeom>
              <a:avLst/>
              <a:gdLst/>
              <a:ahLst/>
              <a:cxnLst/>
              <a:rect r="r" b="b" t="t" l="l"/>
              <a:pathLst>
                <a:path h="171695" w="2664638">
                  <a:moveTo>
                    <a:pt x="11676" y="0"/>
                  </a:moveTo>
                  <a:lnTo>
                    <a:pt x="2652962" y="0"/>
                  </a:lnTo>
                  <a:cubicBezTo>
                    <a:pt x="2656059" y="0"/>
                    <a:pt x="2659029" y="1230"/>
                    <a:pt x="2661218" y="3420"/>
                  </a:cubicBezTo>
                  <a:cubicBezTo>
                    <a:pt x="2663408" y="5610"/>
                    <a:pt x="2664638" y="8580"/>
                    <a:pt x="2664638" y="11676"/>
                  </a:cubicBezTo>
                  <a:lnTo>
                    <a:pt x="2664638" y="160019"/>
                  </a:lnTo>
                  <a:cubicBezTo>
                    <a:pt x="2664638" y="166467"/>
                    <a:pt x="2659411" y="171695"/>
                    <a:pt x="2652962" y="171695"/>
                  </a:cubicBezTo>
                  <a:lnTo>
                    <a:pt x="11676" y="171695"/>
                  </a:lnTo>
                  <a:cubicBezTo>
                    <a:pt x="5228" y="171695"/>
                    <a:pt x="0" y="166467"/>
                    <a:pt x="0" y="160019"/>
                  </a:cubicBezTo>
                  <a:lnTo>
                    <a:pt x="0" y="11676"/>
                  </a:lnTo>
                  <a:cubicBezTo>
                    <a:pt x="0" y="5228"/>
                    <a:pt x="5228" y="0"/>
                    <a:pt x="11676" y="0"/>
                  </a:cubicBezTo>
                  <a:close/>
                </a:path>
              </a:pathLst>
            </a:custGeom>
            <a:solidFill>
              <a:srgbClr val="0070C0">
                <a:alpha val="2862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664638" cy="190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64938" y="2042584"/>
            <a:ext cx="3086100" cy="919543"/>
            <a:chOff x="0" y="0"/>
            <a:chExt cx="812800" cy="242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242184"/>
            </a:xfrm>
            <a:custGeom>
              <a:avLst/>
              <a:gdLst/>
              <a:ahLst/>
              <a:cxnLst/>
              <a:rect r="r" b="b" t="t" l="l"/>
              <a:pathLst>
                <a:path h="242184" w="812800">
                  <a:moveTo>
                    <a:pt x="609600" y="0"/>
                  </a:moveTo>
                  <a:cubicBezTo>
                    <a:pt x="721824" y="0"/>
                    <a:pt x="812800" y="54215"/>
                    <a:pt x="812800" y="121092"/>
                  </a:cubicBezTo>
                  <a:cubicBezTo>
                    <a:pt x="812800" y="187969"/>
                    <a:pt x="721824" y="242184"/>
                    <a:pt x="609600" y="242184"/>
                  </a:cubicBezTo>
                  <a:lnTo>
                    <a:pt x="203200" y="242184"/>
                  </a:lnTo>
                  <a:cubicBezTo>
                    <a:pt x="90976" y="242184"/>
                    <a:pt x="0" y="187969"/>
                    <a:pt x="0" y="121092"/>
                  </a:cubicBezTo>
                  <a:cubicBezTo>
                    <a:pt x="0" y="542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28D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12800" cy="26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15644" y="2066836"/>
            <a:ext cx="2754485" cy="805243"/>
            <a:chOff x="0" y="0"/>
            <a:chExt cx="828436" cy="2421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8436" cy="242184"/>
            </a:xfrm>
            <a:custGeom>
              <a:avLst/>
              <a:gdLst/>
              <a:ahLst/>
              <a:cxnLst/>
              <a:rect r="r" b="b" t="t" l="l"/>
              <a:pathLst>
                <a:path h="242184" w="828436">
                  <a:moveTo>
                    <a:pt x="625236" y="0"/>
                  </a:moveTo>
                  <a:cubicBezTo>
                    <a:pt x="737461" y="0"/>
                    <a:pt x="828436" y="54215"/>
                    <a:pt x="828436" y="121092"/>
                  </a:cubicBezTo>
                  <a:cubicBezTo>
                    <a:pt x="828436" y="187969"/>
                    <a:pt x="737461" y="242184"/>
                    <a:pt x="625236" y="242184"/>
                  </a:cubicBezTo>
                  <a:lnTo>
                    <a:pt x="203200" y="242184"/>
                  </a:lnTo>
                  <a:cubicBezTo>
                    <a:pt x="90976" y="242184"/>
                    <a:pt x="0" y="187969"/>
                    <a:pt x="0" y="121092"/>
                  </a:cubicBezTo>
                  <a:cubicBezTo>
                    <a:pt x="0" y="542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8E44">
                <a:alpha val="8078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28436" cy="26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9077325" y="2080390"/>
            <a:ext cx="0" cy="7491941"/>
          </a:xfrm>
          <a:prstGeom prst="line">
            <a:avLst/>
          </a:prstGeom>
          <a:ln cap="flat" w="76200">
            <a:solidFill>
              <a:srgbClr val="4A7EBB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9186481" y="3264485"/>
            <a:ext cx="603539" cy="631978"/>
          </a:xfrm>
          <a:custGeom>
            <a:avLst/>
            <a:gdLst/>
            <a:ahLst/>
            <a:cxnLst/>
            <a:rect r="r" b="b" t="t" l="l"/>
            <a:pathLst>
              <a:path h="631978" w="603539">
                <a:moveTo>
                  <a:pt x="0" y="0"/>
                </a:moveTo>
                <a:lnTo>
                  <a:pt x="603539" y="0"/>
                </a:lnTo>
                <a:lnTo>
                  <a:pt x="603539" y="631978"/>
                </a:lnTo>
                <a:lnTo>
                  <a:pt x="0" y="631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144000" y="4678454"/>
            <a:ext cx="688500" cy="702551"/>
          </a:xfrm>
          <a:custGeom>
            <a:avLst/>
            <a:gdLst/>
            <a:ahLst/>
            <a:cxnLst/>
            <a:rect r="r" b="b" t="t" l="l"/>
            <a:pathLst>
              <a:path h="702551" w="688500">
                <a:moveTo>
                  <a:pt x="0" y="0"/>
                </a:moveTo>
                <a:lnTo>
                  <a:pt x="688500" y="0"/>
                </a:lnTo>
                <a:lnTo>
                  <a:pt x="688500" y="702551"/>
                </a:lnTo>
                <a:lnTo>
                  <a:pt x="0" y="7025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201824" y="6162996"/>
            <a:ext cx="716491" cy="758191"/>
          </a:xfrm>
          <a:custGeom>
            <a:avLst/>
            <a:gdLst/>
            <a:ahLst/>
            <a:cxnLst/>
            <a:rect r="r" b="b" t="t" l="l"/>
            <a:pathLst>
              <a:path h="758191" w="716491">
                <a:moveTo>
                  <a:pt x="0" y="0"/>
                </a:moveTo>
                <a:lnTo>
                  <a:pt x="716491" y="0"/>
                </a:lnTo>
                <a:lnTo>
                  <a:pt x="716491" y="758191"/>
                </a:lnTo>
                <a:lnTo>
                  <a:pt x="0" y="7581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186481" y="7480334"/>
            <a:ext cx="775381" cy="628059"/>
          </a:xfrm>
          <a:custGeom>
            <a:avLst/>
            <a:gdLst/>
            <a:ahLst/>
            <a:cxnLst/>
            <a:rect r="r" b="b" t="t" l="l"/>
            <a:pathLst>
              <a:path h="628059" w="775381">
                <a:moveTo>
                  <a:pt x="0" y="0"/>
                </a:moveTo>
                <a:lnTo>
                  <a:pt x="775381" y="0"/>
                </a:lnTo>
                <a:lnTo>
                  <a:pt x="775381" y="628058"/>
                </a:lnTo>
                <a:lnTo>
                  <a:pt x="0" y="628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179842" y="8537017"/>
            <a:ext cx="760456" cy="775975"/>
          </a:xfrm>
          <a:custGeom>
            <a:avLst/>
            <a:gdLst/>
            <a:ahLst/>
            <a:cxnLst/>
            <a:rect r="r" b="b" t="t" l="l"/>
            <a:pathLst>
              <a:path h="775975" w="760456">
                <a:moveTo>
                  <a:pt x="0" y="0"/>
                </a:moveTo>
                <a:lnTo>
                  <a:pt x="760456" y="0"/>
                </a:lnTo>
                <a:lnTo>
                  <a:pt x="760456" y="775976"/>
                </a:lnTo>
                <a:lnTo>
                  <a:pt x="0" y="775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866224" y="6656520"/>
            <a:ext cx="574936" cy="618211"/>
          </a:xfrm>
          <a:custGeom>
            <a:avLst/>
            <a:gdLst/>
            <a:ahLst/>
            <a:cxnLst/>
            <a:rect r="r" b="b" t="t" l="l"/>
            <a:pathLst>
              <a:path h="618211" w="574936">
                <a:moveTo>
                  <a:pt x="0" y="0"/>
                </a:moveTo>
                <a:lnTo>
                  <a:pt x="574936" y="0"/>
                </a:lnTo>
                <a:lnTo>
                  <a:pt x="574936" y="618211"/>
                </a:lnTo>
                <a:lnTo>
                  <a:pt x="0" y="618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4993495" y="3133117"/>
            <a:ext cx="3960005" cy="3690923"/>
            <a:chOff x="0" y="0"/>
            <a:chExt cx="202604" cy="1888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2604" cy="188837"/>
            </a:xfrm>
            <a:custGeom>
              <a:avLst/>
              <a:gdLst/>
              <a:ahLst/>
              <a:cxnLst/>
              <a:rect r="r" b="b" t="t" l="l"/>
              <a:pathLst>
                <a:path h="188837" w="202604">
                  <a:moveTo>
                    <a:pt x="38184" y="0"/>
                  </a:moveTo>
                  <a:lnTo>
                    <a:pt x="164420" y="0"/>
                  </a:lnTo>
                  <a:cubicBezTo>
                    <a:pt x="185508" y="0"/>
                    <a:pt x="202604" y="17096"/>
                    <a:pt x="202604" y="38184"/>
                  </a:cubicBezTo>
                  <a:lnTo>
                    <a:pt x="202604" y="150653"/>
                  </a:lnTo>
                  <a:cubicBezTo>
                    <a:pt x="202604" y="160780"/>
                    <a:pt x="198581" y="170492"/>
                    <a:pt x="191420" y="177653"/>
                  </a:cubicBezTo>
                  <a:cubicBezTo>
                    <a:pt x="184259" y="184814"/>
                    <a:pt x="174547" y="188837"/>
                    <a:pt x="164420" y="188837"/>
                  </a:cubicBezTo>
                  <a:lnTo>
                    <a:pt x="38184" y="188837"/>
                  </a:lnTo>
                  <a:cubicBezTo>
                    <a:pt x="28057" y="188837"/>
                    <a:pt x="18345" y="184814"/>
                    <a:pt x="11184" y="177653"/>
                  </a:cubicBezTo>
                  <a:cubicBezTo>
                    <a:pt x="4023" y="170492"/>
                    <a:pt x="0" y="160780"/>
                    <a:pt x="0" y="150653"/>
                  </a:cubicBezTo>
                  <a:lnTo>
                    <a:pt x="0" y="38184"/>
                  </a:lnTo>
                  <a:cubicBezTo>
                    <a:pt x="0" y="17096"/>
                    <a:pt x="17096" y="0"/>
                    <a:pt x="38184" y="0"/>
                  </a:cubicBezTo>
                  <a:close/>
                </a:path>
              </a:pathLst>
            </a:custGeom>
            <a:solidFill>
              <a:srgbClr val="7FCB27">
                <a:alpha val="32941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02604" cy="207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66637" y="7024524"/>
            <a:ext cx="3920709" cy="2367778"/>
            <a:chOff x="0" y="0"/>
            <a:chExt cx="279919" cy="1690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9919" cy="169048"/>
            </a:xfrm>
            <a:custGeom>
              <a:avLst/>
              <a:gdLst/>
              <a:ahLst/>
              <a:cxnLst/>
              <a:rect r="r" b="b" t="t" l="l"/>
              <a:pathLst>
                <a:path h="169048" w="279919">
                  <a:moveTo>
                    <a:pt x="38567" y="0"/>
                  </a:moveTo>
                  <a:lnTo>
                    <a:pt x="241352" y="0"/>
                  </a:lnTo>
                  <a:cubicBezTo>
                    <a:pt x="262652" y="0"/>
                    <a:pt x="279919" y="17267"/>
                    <a:pt x="279919" y="38567"/>
                  </a:cubicBezTo>
                  <a:lnTo>
                    <a:pt x="279919" y="130481"/>
                  </a:lnTo>
                  <a:cubicBezTo>
                    <a:pt x="279919" y="151781"/>
                    <a:pt x="262652" y="169048"/>
                    <a:pt x="241352" y="169048"/>
                  </a:cubicBezTo>
                  <a:lnTo>
                    <a:pt x="38567" y="169048"/>
                  </a:lnTo>
                  <a:cubicBezTo>
                    <a:pt x="17267" y="169048"/>
                    <a:pt x="0" y="151781"/>
                    <a:pt x="0" y="130481"/>
                  </a:cubicBezTo>
                  <a:lnTo>
                    <a:pt x="0" y="38567"/>
                  </a:lnTo>
                  <a:cubicBezTo>
                    <a:pt x="0" y="17267"/>
                    <a:pt x="17267" y="0"/>
                    <a:pt x="38567" y="0"/>
                  </a:cubicBezTo>
                  <a:close/>
                </a:path>
              </a:pathLst>
            </a:custGeom>
            <a:solidFill>
              <a:srgbClr val="0070C0">
                <a:alpha val="32941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79919" cy="18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66388" y="6624249"/>
            <a:ext cx="3774607" cy="2828052"/>
            <a:chOff x="0" y="0"/>
            <a:chExt cx="267930" cy="2007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7930" cy="200741"/>
            </a:xfrm>
            <a:custGeom>
              <a:avLst/>
              <a:gdLst/>
              <a:ahLst/>
              <a:cxnLst/>
              <a:rect r="r" b="b" t="t" l="l"/>
              <a:pathLst>
                <a:path h="200741" w="267930">
                  <a:moveTo>
                    <a:pt x="40060" y="0"/>
                  </a:moveTo>
                  <a:lnTo>
                    <a:pt x="227870" y="0"/>
                  </a:lnTo>
                  <a:cubicBezTo>
                    <a:pt x="238495" y="0"/>
                    <a:pt x="248684" y="4221"/>
                    <a:pt x="256197" y="11733"/>
                  </a:cubicBezTo>
                  <a:cubicBezTo>
                    <a:pt x="263709" y="19246"/>
                    <a:pt x="267930" y="29435"/>
                    <a:pt x="267930" y="40060"/>
                  </a:cubicBezTo>
                  <a:lnTo>
                    <a:pt x="267930" y="160682"/>
                  </a:lnTo>
                  <a:cubicBezTo>
                    <a:pt x="267930" y="171306"/>
                    <a:pt x="263709" y="181495"/>
                    <a:pt x="256197" y="189008"/>
                  </a:cubicBezTo>
                  <a:cubicBezTo>
                    <a:pt x="248684" y="196521"/>
                    <a:pt x="238495" y="200741"/>
                    <a:pt x="227870" y="200741"/>
                  </a:cubicBezTo>
                  <a:lnTo>
                    <a:pt x="40060" y="200741"/>
                  </a:lnTo>
                  <a:cubicBezTo>
                    <a:pt x="29435" y="200741"/>
                    <a:pt x="19246" y="196521"/>
                    <a:pt x="11733" y="189008"/>
                  </a:cubicBezTo>
                  <a:cubicBezTo>
                    <a:pt x="4221" y="181495"/>
                    <a:pt x="0" y="171306"/>
                    <a:pt x="0" y="160682"/>
                  </a:cubicBezTo>
                  <a:lnTo>
                    <a:pt x="0" y="40060"/>
                  </a:lnTo>
                  <a:cubicBezTo>
                    <a:pt x="0" y="29435"/>
                    <a:pt x="4221" y="19246"/>
                    <a:pt x="11733" y="11733"/>
                  </a:cubicBezTo>
                  <a:cubicBezTo>
                    <a:pt x="19246" y="4221"/>
                    <a:pt x="29435" y="0"/>
                    <a:pt x="40060" y="0"/>
                  </a:cubicBezTo>
                  <a:close/>
                </a:path>
              </a:pathLst>
            </a:custGeom>
            <a:solidFill>
              <a:srgbClr val="7FCB27">
                <a:alpha val="32941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67930" cy="219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319" y="3376956"/>
            <a:ext cx="4107916" cy="3051191"/>
            <a:chOff x="0" y="0"/>
            <a:chExt cx="511799" cy="3801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1799" cy="380143"/>
            </a:xfrm>
            <a:custGeom>
              <a:avLst/>
              <a:gdLst/>
              <a:ahLst/>
              <a:cxnLst/>
              <a:rect r="r" b="b" t="t" l="l"/>
              <a:pathLst>
                <a:path h="380143" w="511799">
                  <a:moveTo>
                    <a:pt x="36809" y="0"/>
                  </a:moveTo>
                  <a:lnTo>
                    <a:pt x="474989" y="0"/>
                  </a:lnTo>
                  <a:cubicBezTo>
                    <a:pt x="484752" y="0"/>
                    <a:pt x="494115" y="3878"/>
                    <a:pt x="501018" y="10781"/>
                  </a:cubicBezTo>
                  <a:cubicBezTo>
                    <a:pt x="507921" y="17684"/>
                    <a:pt x="511799" y="27047"/>
                    <a:pt x="511799" y="36809"/>
                  </a:cubicBezTo>
                  <a:lnTo>
                    <a:pt x="511799" y="343334"/>
                  </a:lnTo>
                  <a:cubicBezTo>
                    <a:pt x="511799" y="363663"/>
                    <a:pt x="495319" y="380143"/>
                    <a:pt x="474989" y="380143"/>
                  </a:cubicBezTo>
                  <a:lnTo>
                    <a:pt x="36809" y="380143"/>
                  </a:lnTo>
                  <a:cubicBezTo>
                    <a:pt x="27047" y="380143"/>
                    <a:pt x="17684" y="376265"/>
                    <a:pt x="10781" y="369362"/>
                  </a:cubicBezTo>
                  <a:cubicBezTo>
                    <a:pt x="3878" y="362459"/>
                    <a:pt x="0" y="353096"/>
                    <a:pt x="0" y="343334"/>
                  </a:cubicBezTo>
                  <a:lnTo>
                    <a:pt x="0" y="36809"/>
                  </a:lnTo>
                  <a:cubicBezTo>
                    <a:pt x="0" y="27047"/>
                    <a:pt x="3878" y="17684"/>
                    <a:pt x="10781" y="10781"/>
                  </a:cubicBezTo>
                  <a:cubicBezTo>
                    <a:pt x="17684" y="3878"/>
                    <a:pt x="27047" y="0"/>
                    <a:pt x="36809" y="0"/>
                  </a:cubicBezTo>
                  <a:close/>
                </a:path>
              </a:pathLst>
            </a:custGeom>
            <a:solidFill>
              <a:srgbClr val="0070C0">
                <a:alpha val="32941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11799" cy="399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00475" y="4212206"/>
            <a:ext cx="928225" cy="956933"/>
          </a:xfrm>
          <a:custGeom>
            <a:avLst/>
            <a:gdLst/>
            <a:ahLst/>
            <a:cxnLst/>
            <a:rect r="r" b="b" t="t" l="l"/>
            <a:pathLst>
              <a:path h="956933" w="928225">
                <a:moveTo>
                  <a:pt x="0" y="0"/>
                </a:moveTo>
                <a:lnTo>
                  <a:pt x="928225" y="0"/>
                </a:lnTo>
                <a:lnTo>
                  <a:pt x="928225" y="956933"/>
                </a:lnTo>
                <a:lnTo>
                  <a:pt x="0" y="9569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915566" y="4396051"/>
            <a:ext cx="8237990" cy="1376419"/>
            <a:chOff x="0" y="0"/>
            <a:chExt cx="595869" cy="995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5869" cy="99559"/>
            </a:xfrm>
            <a:custGeom>
              <a:avLst/>
              <a:gdLst/>
              <a:ahLst/>
              <a:cxnLst/>
              <a:rect r="r" b="b" t="t" l="l"/>
              <a:pathLst>
                <a:path h="99559" w="595869">
                  <a:moveTo>
                    <a:pt x="18355" y="0"/>
                  </a:moveTo>
                  <a:lnTo>
                    <a:pt x="577514" y="0"/>
                  </a:lnTo>
                  <a:cubicBezTo>
                    <a:pt x="587651" y="0"/>
                    <a:pt x="595869" y="8218"/>
                    <a:pt x="595869" y="18355"/>
                  </a:cubicBezTo>
                  <a:lnTo>
                    <a:pt x="595869" y="81204"/>
                  </a:lnTo>
                  <a:cubicBezTo>
                    <a:pt x="595869" y="91341"/>
                    <a:pt x="587651" y="99559"/>
                    <a:pt x="577514" y="99559"/>
                  </a:cubicBezTo>
                  <a:lnTo>
                    <a:pt x="18355" y="99559"/>
                  </a:lnTo>
                  <a:cubicBezTo>
                    <a:pt x="8218" y="99559"/>
                    <a:pt x="0" y="91341"/>
                    <a:pt x="0" y="81204"/>
                  </a:cubicBezTo>
                  <a:lnTo>
                    <a:pt x="0" y="18355"/>
                  </a:lnTo>
                  <a:cubicBezTo>
                    <a:pt x="0" y="8218"/>
                    <a:pt x="8218" y="0"/>
                    <a:pt x="18355" y="0"/>
                  </a:cubicBezTo>
                  <a:close/>
                </a:path>
              </a:pathLst>
            </a:custGeom>
            <a:solidFill>
              <a:srgbClr val="0070C0">
                <a:alpha val="32941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95869" cy="118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40298" y="6077271"/>
            <a:ext cx="8216007" cy="1093957"/>
            <a:chOff x="0" y="0"/>
            <a:chExt cx="594279" cy="791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279" cy="79128"/>
            </a:xfrm>
            <a:custGeom>
              <a:avLst/>
              <a:gdLst/>
              <a:ahLst/>
              <a:cxnLst/>
              <a:rect r="r" b="b" t="t" l="l"/>
              <a:pathLst>
                <a:path h="79128" w="594279">
                  <a:moveTo>
                    <a:pt x="18404" y="0"/>
                  </a:moveTo>
                  <a:lnTo>
                    <a:pt x="575875" y="0"/>
                  </a:lnTo>
                  <a:cubicBezTo>
                    <a:pt x="586039" y="0"/>
                    <a:pt x="594279" y="8240"/>
                    <a:pt x="594279" y="18404"/>
                  </a:cubicBezTo>
                  <a:lnTo>
                    <a:pt x="594279" y="60724"/>
                  </a:lnTo>
                  <a:cubicBezTo>
                    <a:pt x="594279" y="65605"/>
                    <a:pt x="592340" y="70286"/>
                    <a:pt x="588888" y="73737"/>
                  </a:cubicBezTo>
                  <a:cubicBezTo>
                    <a:pt x="585437" y="77189"/>
                    <a:pt x="580756" y="79128"/>
                    <a:pt x="575875" y="79128"/>
                  </a:cubicBezTo>
                  <a:lnTo>
                    <a:pt x="18404" y="79128"/>
                  </a:lnTo>
                  <a:cubicBezTo>
                    <a:pt x="13523" y="79128"/>
                    <a:pt x="8842" y="77189"/>
                    <a:pt x="5390" y="73737"/>
                  </a:cubicBezTo>
                  <a:cubicBezTo>
                    <a:pt x="1939" y="70286"/>
                    <a:pt x="0" y="65605"/>
                    <a:pt x="0" y="60724"/>
                  </a:cubicBezTo>
                  <a:lnTo>
                    <a:pt x="0" y="18404"/>
                  </a:lnTo>
                  <a:cubicBezTo>
                    <a:pt x="0" y="13523"/>
                    <a:pt x="1939" y="8842"/>
                    <a:pt x="5390" y="5390"/>
                  </a:cubicBezTo>
                  <a:cubicBezTo>
                    <a:pt x="8842" y="1939"/>
                    <a:pt x="13523" y="0"/>
                    <a:pt x="18404" y="0"/>
                  </a:cubicBezTo>
                  <a:close/>
                </a:path>
              </a:pathLst>
            </a:custGeom>
            <a:solidFill>
              <a:srgbClr val="7FCB27">
                <a:alpha val="32941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94279" cy="98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940298" y="2962127"/>
            <a:ext cx="8104605" cy="1176749"/>
            <a:chOff x="0" y="0"/>
            <a:chExt cx="571344" cy="829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1344" cy="82956"/>
            </a:xfrm>
            <a:custGeom>
              <a:avLst/>
              <a:gdLst/>
              <a:ahLst/>
              <a:cxnLst/>
              <a:rect r="r" b="b" t="t" l="l"/>
              <a:pathLst>
                <a:path h="82956" w="571344">
                  <a:moveTo>
                    <a:pt x="18657" y="0"/>
                  </a:moveTo>
                  <a:lnTo>
                    <a:pt x="552687" y="0"/>
                  </a:lnTo>
                  <a:cubicBezTo>
                    <a:pt x="557635" y="0"/>
                    <a:pt x="562381" y="1966"/>
                    <a:pt x="565880" y="5465"/>
                  </a:cubicBezTo>
                  <a:cubicBezTo>
                    <a:pt x="569379" y="8963"/>
                    <a:pt x="571344" y="13709"/>
                    <a:pt x="571344" y="18657"/>
                  </a:cubicBezTo>
                  <a:lnTo>
                    <a:pt x="571344" y="64299"/>
                  </a:lnTo>
                  <a:cubicBezTo>
                    <a:pt x="571344" y="74603"/>
                    <a:pt x="562991" y="82956"/>
                    <a:pt x="552687" y="82956"/>
                  </a:cubicBezTo>
                  <a:lnTo>
                    <a:pt x="18657" y="82956"/>
                  </a:lnTo>
                  <a:cubicBezTo>
                    <a:pt x="8353" y="82956"/>
                    <a:pt x="0" y="74603"/>
                    <a:pt x="0" y="64299"/>
                  </a:cubicBezTo>
                  <a:lnTo>
                    <a:pt x="0" y="18657"/>
                  </a:lnTo>
                  <a:cubicBezTo>
                    <a:pt x="0" y="8353"/>
                    <a:pt x="8353" y="0"/>
                    <a:pt x="18657" y="0"/>
                  </a:cubicBezTo>
                  <a:close/>
                </a:path>
              </a:pathLst>
            </a:custGeom>
            <a:solidFill>
              <a:srgbClr val="7FCB27">
                <a:alpha val="32941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71344" cy="102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40298" y="8537017"/>
            <a:ext cx="8213258" cy="1187713"/>
            <a:chOff x="0" y="0"/>
            <a:chExt cx="594080" cy="859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4080" cy="85909"/>
            </a:xfrm>
            <a:custGeom>
              <a:avLst/>
              <a:gdLst/>
              <a:ahLst/>
              <a:cxnLst/>
              <a:rect r="r" b="b" t="t" l="l"/>
              <a:pathLst>
                <a:path h="85909" w="594080">
                  <a:moveTo>
                    <a:pt x="18410" y="0"/>
                  </a:moveTo>
                  <a:lnTo>
                    <a:pt x="575670" y="0"/>
                  </a:lnTo>
                  <a:cubicBezTo>
                    <a:pt x="580552" y="0"/>
                    <a:pt x="585235" y="1940"/>
                    <a:pt x="588688" y="5392"/>
                  </a:cubicBezTo>
                  <a:cubicBezTo>
                    <a:pt x="592140" y="8845"/>
                    <a:pt x="594080" y="13528"/>
                    <a:pt x="594080" y="18410"/>
                  </a:cubicBezTo>
                  <a:lnTo>
                    <a:pt x="594080" y="67499"/>
                  </a:lnTo>
                  <a:cubicBezTo>
                    <a:pt x="594080" y="77667"/>
                    <a:pt x="585837" y="85909"/>
                    <a:pt x="575670" y="85909"/>
                  </a:cubicBezTo>
                  <a:lnTo>
                    <a:pt x="18410" y="85909"/>
                  </a:lnTo>
                  <a:cubicBezTo>
                    <a:pt x="8243" y="85909"/>
                    <a:pt x="0" y="77667"/>
                    <a:pt x="0" y="67499"/>
                  </a:cubicBezTo>
                  <a:lnTo>
                    <a:pt x="0" y="18410"/>
                  </a:lnTo>
                  <a:cubicBezTo>
                    <a:pt x="0" y="8243"/>
                    <a:pt x="8243" y="0"/>
                    <a:pt x="18410" y="0"/>
                  </a:cubicBezTo>
                  <a:close/>
                </a:path>
              </a:pathLst>
            </a:custGeom>
            <a:solidFill>
              <a:srgbClr val="7FCB27">
                <a:alpha val="32941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94080" cy="104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004714" y="3048141"/>
            <a:ext cx="8151591" cy="672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5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ECONOMIC:</a:t>
            </a:r>
            <a:r>
              <a:rPr lang="en-US" sz="205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No </a:t>
            </a:r>
            <a:r>
              <a:rPr lang="en-US" b="true" sz="205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licensing fees (open-source stack only) — no recurring SaaS/SDK cost vs. commercial voice SDKs; reuses existing ESP32 hardware (no new procurement)</a:t>
            </a: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  <a:r>
              <a:rPr lang="en-US" b="true" sz="195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STRATEGIC/NATIONAL(ISRO SPECIFIC):</a:t>
            </a:r>
            <a:r>
              <a:rPr lang="en-US" b="true" sz="195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Indigenous, custom-trainable keyword system — no reliance on foreign proprietary voice tech, aligns with Atmanirbhar Bharat / self-reliance in critical space-tech components</a:t>
            </a: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  <a:r>
              <a:rPr lang="en-US" b="true" sz="195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ENVIRONMENTAL: </a:t>
            </a:r>
            <a:r>
              <a:rPr lang="en-US" b="true" sz="195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Ultra-low idle power draw → suited for solar/battery-powered remote sensor nodes; less energy overhead than cloud-polling alternatives</a:t>
            </a: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  <a:r>
              <a:rPr lang="en-US" b="true" sz="195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TECHNICAL/SCALABLE: </a:t>
            </a:r>
            <a:r>
              <a:rPr lang="en-US" b="true" sz="195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Framework is keyword-agnostic — same pipeline can be retrained for other ISRO use cases (defense, disaster response ground units, industrial IoT) beyond this one PS</a:t>
            </a: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  <a:r>
              <a:rPr lang="en-US" b="true" sz="195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SOCIAL:</a:t>
            </a:r>
            <a:r>
              <a:rPr lang="en-US" b="true" sz="195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Improves accessibility of embedded systems for operators in noisy/hazardous field conditions where manual input is impractical</a:t>
            </a:r>
          </a:p>
          <a:p>
            <a:pPr algn="l">
              <a:lnSpc>
                <a:spcPts val="2665"/>
              </a:lnSpc>
            </a:pPr>
          </a:p>
        </p:txBody>
      </p:sp>
      <p:grpSp>
        <p:nvGrpSpPr>
          <p:cNvPr name="Group 61" id="61"/>
          <p:cNvGrpSpPr/>
          <p:nvPr/>
        </p:nvGrpSpPr>
        <p:grpSpPr>
          <a:xfrm rot="0">
            <a:off x="10004714" y="7285528"/>
            <a:ext cx="8151591" cy="1194340"/>
            <a:chOff x="0" y="0"/>
            <a:chExt cx="589619" cy="8638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9619" cy="86389"/>
            </a:xfrm>
            <a:custGeom>
              <a:avLst/>
              <a:gdLst/>
              <a:ahLst/>
              <a:cxnLst/>
              <a:rect r="r" b="b" t="t" l="l"/>
              <a:pathLst>
                <a:path h="86389" w="589619">
                  <a:moveTo>
                    <a:pt x="18550" y="0"/>
                  </a:moveTo>
                  <a:lnTo>
                    <a:pt x="571070" y="0"/>
                  </a:lnTo>
                  <a:cubicBezTo>
                    <a:pt x="581314" y="0"/>
                    <a:pt x="589619" y="8305"/>
                    <a:pt x="589619" y="18550"/>
                  </a:cubicBezTo>
                  <a:lnTo>
                    <a:pt x="589619" y="67839"/>
                  </a:lnTo>
                  <a:cubicBezTo>
                    <a:pt x="589619" y="78084"/>
                    <a:pt x="581314" y="86389"/>
                    <a:pt x="571070" y="86389"/>
                  </a:cubicBezTo>
                  <a:lnTo>
                    <a:pt x="18550" y="86389"/>
                  </a:lnTo>
                  <a:cubicBezTo>
                    <a:pt x="13630" y="86389"/>
                    <a:pt x="8912" y="84434"/>
                    <a:pt x="5433" y="80956"/>
                  </a:cubicBezTo>
                  <a:cubicBezTo>
                    <a:pt x="1954" y="77477"/>
                    <a:pt x="0" y="72759"/>
                    <a:pt x="0" y="67839"/>
                  </a:cubicBezTo>
                  <a:lnTo>
                    <a:pt x="0" y="18550"/>
                  </a:lnTo>
                  <a:cubicBezTo>
                    <a:pt x="0" y="8305"/>
                    <a:pt x="8305" y="0"/>
                    <a:pt x="18550" y="0"/>
                  </a:cubicBezTo>
                  <a:close/>
                </a:path>
              </a:pathLst>
            </a:custGeom>
            <a:solidFill>
              <a:srgbClr val="0070C0">
                <a:alpha val="32941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589619" cy="105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5400000">
            <a:off x="2050165" y="5344049"/>
            <a:ext cx="5010619" cy="66679"/>
            <a:chOff x="0" y="0"/>
            <a:chExt cx="1319669" cy="1756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19669" cy="17561"/>
            </a:xfrm>
            <a:custGeom>
              <a:avLst/>
              <a:gdLst/>
              <a:ahLst/>
              <a:cxnLst/>
              <a:rect r="r" b="b" t="t" l="l"/>
              <a:pathLst>
                <a:path h="17561" w="1319669">
                  <a:moveTo>
                    <a:pt x="0" y="0"/>
                  </a:moveTo>
                  <a:lnTo>
                    <a:pt x="1319669" y="0"/>
                  </a:lnTo>
                  <a:lnTo>
                    <a:pt x="1319669" y="17561"/>
                  </a:lnTo>
                  <a:lnTo>
                    <a:pt x="0" y="17561"/>
                  </a:lnTo>
                  <a:close/>
                </a:path>
              </a:pathLst>
            </a:custGeom>
            <a:solidFill>
              <a:srgbClr val="92C730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319669" cy="36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650196" y="3628969"/>
            <a:ext cx="3471890" cy="265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b="true" sz="19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Enables hands-free, low-p</a:t>
            </a:r>
            <a:r>
              <a:rPr lang="en-US" b="true" sz="19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ower voice control for ISRO ground station operators and field engineers working in mission-critical environments where hands are occupied or gloves/suits are worn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4588814" y="7892741"/>
            <a:ext cx="355646" cy="47625"/>
            <a:chOff x="0" y="0"/>
            <a:chExt cx="93668" cy="125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668" cy="12543"/>
            </a:xfrm>
            <a:custGeom>
              <a:avLst/>
              <a:gdLst/>
              <a:ahLst/>
              <a:cxnLst/>
              <a:rect r="r" b="b" t="t" l="l"/>
              <a:pathLst>
                <a:path h="12543" w="93668">
                  <a:moveTo>
                    <a:pt x="0" y="0"/>
                  </a:moveTo>
                  <a:lnTo>
                    <a:pt x="93668" y="0"/>
                  </a:lnTo>
                  <a:lnTo>
                    <a:pt x="9366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92C730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3668" cy="31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007988" y="6937050"/>
            <a:ext cx="502396" cy="57150"/>
            <a:chOff x="0" y="0"/>
            <a:chExt cx="132318" cy="150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2318" cy="15052"/>
            </a:xfrm>
            <a:custGeom>
              <a:avLst/>
              <a:gdLst/>
              <a:ahLst/>
              <a:cxnLst/>
              <a:rect r="r" b="b" t="t" l="l"/>
              <a:pathLst>
                <a:path h="15052" w="132318">
                  <a:moveTo>
                    <a:pt x="0" y="0"/>
                  </a:moveTo>
                  <a:lnTo>
                    <a:pt x="132318" y="0"/>
                  </a:lnTo>
                  <a:lnTo>
                    <a:pt x="132318" y="15052"/>
                  </a:lnTo>
                  <a:lnTo>
                    <a:pt x="0" y="15052"/>
                  </a:lnTo>
                  <a:close/>
                </a:path>
              </a:pathLst>
            </a:custGeom>
            <a:solidFill>
              <a:srgbClr val="92C730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32318" cy="34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528345" y="5592407"/>
            <a:ext cx="593991" cy="51917"/>
            <a:chOff x="0" y="0"/>
            <a:chExt cx="156442" cy="1367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56442" cy="13673"/>
            </a:xfrm>
            <a:custGeom>
              <a:avLst/>
              <a:gdLst/>
              <a:ahLst/>
              <a:cxnLst/>
              <a:rect r="r" b="b" t="t" l="l"/>
              <a:pathLst>
                <a:path h="13673" w="156442">
                  <a:moveTo>
                    <a:pt x="0" y="0"/>
                  </a:moveTo>
                  <a:lnTo>
                    <a:pt x="156442" y="0"/>
                  </a:lnTo>
                  <a:lnTo>
                    <a:pt x="156442" y="13673"/>
                  </a:lnTo>
                  <a:lnTo>
                    <a:pt x="0" y="13673"/>
                  </a:lnTo>
                  <a:close/>
                </a:path>
              </a:pathLst>
            </a:custGeom>
            <a:solidFill>
              <a:srgbClr val="92C730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156442" cy="32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074335" y="4164281"/>
            <a:ext cx="514479" cy="47924"/>
            <a:chOff x="0" y="0"/>
            <a:chExt cx="135501" cy="1262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5501" cy="12622"/>
            </a:xfrm>
            <a:custGeom>
              <a:avLst/>
              <a:gdLst/>
              <a:ahLst/>
              <a:cxnLst/>
              <a:rect r="r" b="b" t="t" l="l"/>
              <a:pathLst>
                <a:path h="12622" w="135501">
                  <a:moveTo>
                    <a:pt x="0" y="0"/>
                  </a:moveTo>
                  <a:lnTo>
                    <a:pt x="135501" y="0"/>
                  </a:lnTo>
                  <a:lnTo>
                    <a:pt x="135501" y="12622"/>
                  </a:lnTo>
                  <a:lnTo>
                    <a:pt x="0" y="12622"/>
                  </a:lnTo>
                  <a:close/>
                </a:path>
              </a:pathLst>
            </a:custGeom>
            <a:solidFill>
              <a:srgbClr val="92C730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35501" cy="31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4925305" y="7855097"/>
            <a:ext cx="792857" cy="706634"/>
          </a:xfrm>
          <a:custGeom>
            <a:avLst/>
            <a:gdLst/>
            <a:ahLst/>
            <a:cxnLst/>
            <a:rect r="r" b="b" t="t" l="l"/>
            <a:pathLst>
              <a:path h="706634" w="792857">
                <a:moveTo>
                  <a:pt x="0" y="0"/>
                </a:moveTo>
                <a:lnTo>
                  <a:pt x="792857" y="0"/>
                </a:lnTo>
                <a:lnTo>
                  <a:pt x="792857" y="706633"/>
                </a:lnTo>
                <a:lnTo>
                  <a:pt x="0" y="7066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933200" y="1195738"/>
            <a:ext cx="1299057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7"/>
              </a:lnSpc>
              <a:spcBef>
                <a:spcPct val="0"/>
              </a:spcBef>
            </a:pPr>
            <a:r>
              <a:rPr lang="en-US" b="true" sz="235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TARGET AUDIENCE : ISRO and other edge/embedded-device users (satellites, ground stations, remote sensors, mission control interfaces)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694242" y="2268582"/>
            <a:ext cx="2627492" cy="47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4"/>
              </a:lnSpc>
              <a:spcBef>
                <a:spcPct val="0"/>
              </a:spcBef>
            </a:pPr>
            <a:r>
              <a:rPr lang="en-US" b="true" sz="310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IMPACTS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455812" y="2238126"/>
            <a:ext cx="5674149" cy="50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1"/>
              </a:lnSpc>
              <a:spcBef>
                <a:spcPct val="0"/>
              </a:spcBef>
            </a:pPr>
            <a:r>
              <a:rPr lang="en-US" b="true" sz="330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BENEFITS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122335" y="3619444"/>
            <a:ext cx="3831165" cy="295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b="true" sz="221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Rem</a:t>
            </a:r>
            <a:r>
              <a:rPr lang="en-US" b="true" sz="221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oves dependency on cloud-always-on voice assistants (Alexa/Google) — critical for ISRO where data sovereignty and offline operation in remote/low-connectivity sites (launch pads, tracking stations) matter</a:t>
            </a:r>
          </a:p>
        </p:txBody>
      </p:sp>
      <p:sp>
        <p:nvSpPr>
          <p:cNvPr name="Freeform 85" id="85"/>
          <p:cNvSpPr/>
          <p:nvPr/>
        </p:nvSpPr>
        <p:spPr>
          <a:xfrm flipH="false" flipV="false" rot="0">
            <a:off x="4666619" y="3086241"/>
            <a:ext cx="653753" cy="814669"/>
          </a:xfrm>
          <a:custGeom>
            <a:avLst/>
            <a:gdLst/>
            <a:ahLst/>
            <a:cxnLst/>
            <a:rect r="r" b="b" t="t" l="l"/>
            <a:pathLst>
              <a:path h="814669" w="653753">
                <a:moveTo>
                  <a:pt x="0" y="0"/>
                </a:moveTo>
                <a:lnTo>
                  <a:pt x="653753" y="0"/>
                </a:lnTo>
                <a:lnTo>
                  <a:pt x="653753" y="814669"/>
                </a:lnTo>
                <a:lnTo>
                  <a:pt x="0" y="81466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2307" t="0" r="-12307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679895" y="7299610"/>
            <a:ext cx="2890765" cy="185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  <a:spcBef>
                <a:spcPct val="0"/>
              </a:spcBef>
            </a:pPr>
            <a:r>
              <a:rPr lang="en-US" b="true" sz="208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b="true" sz="208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uts response latency for voice-triggered systems, useful in time-sensitive telemetry/command scenarios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647350" y="7340192"/>
            <a:ext cx="2781135" cy="197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  <a:spcBef>
                <a:spcPct val="0"/>
              </a:spcBef>
            </a:pPr>
            <a:r>
              <a:rPr lang="en-US" b="true" sz="189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Extends battery life </a:t>
            </a:r>
            <a:r>
              <a:rPr lang="en-US" b="true" sz="189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of edge devices used in remote sensing units, rovers, or unmanned ground stations since the wake-word engine idles at &lt;10% CPU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0" y="44739"/>
            <a:ext cx="18282930" cy="10200351"/>
          </a:xfrm>
          <a:custGeom>
            <a:avLst/>
            <a:gdLst/>
            <a:ahLst/>
            <a:cxnLst/>
            <a:rect r="r" b="b" t="t" l="l"/>
            <a:pathLst>
              <a:path h="10200351" w="18282930">
                <a:moveTo>
                  <a:pt x="0" y="0"/>
                </a:moveTo>
                <a:lnTo>
                  <a:pt x="18282930" y="0"/>
                </a:lnTo>
                <a:lnTo>
                  <a:pt x="18282930" y="10200351"/>
                </a:lnTo>
                <a:lnTo>
                  <a:pt x="0" y="1020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8655" y="2251591"/>
            <a:ext cx="17194580" cy="7175550"/>
            <a:chOff x="0" y="0"/>
            <a:chExt cx="22814255" cy="95207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14280" cy="9520772"/>
            </a:xfrm>
            <a:custGeom>
              <a:avLst/>
              <a:gdLst/>
              <a:ahLst/>
              <a:cxnLst/>
              <a:rect r="r" b="b" t="t" l="l"/>
              <a:pathLst>
                <a:path h="9520772" w="22814280">
                  <a:moveTo>
                    <a:pt x="0" y="238063"/>
                  </a:moveTo>
                  <a:cubicBezTo>
                    <a:pt x="0" y="106535"/>
                    <a:pt x="107188" y="0"/>
                    <a:pt x="239522" y="0"/>
                  </a:cubicBezTo>
                  <a:lnTo>
                    <a:pt x="22574758" y="0"/>
                  </a:lnTo>
                  <a:cubicBezTo>
                    <a:pt x="22706966" y="0"/>
                    <a:pt x="22814280" y="106535"/>
                    <a:pt x="22814280" y="238063"/>
                  </a:cubicBezTo>
                  <a:lnTo>
                    <a:pt x="22814280" y="9282709"/>
                  </a:lnTo>
                  <a:cubicBezTo>
                    <a:pt x="22814280" y="9414111"/>
                    <a:pt x="22707093" y="9520772"/>
                    <a:pt x="22574758" y="9520772"/>
                  </a:cubicBezTo>
                  <a:lnTo>
                    <a:pt x="239522" y="9520772"/>
                  </a:lnTo>
                  <a:cubicBezTo>
                    <a:pt x="107188" y="9520772"/>
                    <a:pt x="0" y="9414111"/>
                    <a:pt x="0" y="928270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6EA"/>
              </a:solidFill>
              <a:prstDash val="solid"/>
              <a:miter/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6634" y="2392099"/>
          <a:ext cx="16878300" cy="3649941"/>
        </p:xfrm>
        <a:graphic>
          <a:graphicData uri="http://schemas.openxmlformats.org/drawingml/2006/table">
            <a:tbl>
              <a:tblPr/>
              <a:tblGrid>
                <a:gridCol w="5063490"/>
                <a:gridCol w="3375660"/>
                <a:gridCol w="6115050"/>
                <a:gridCol w="2324100"/>
              </a:tblGrid>
              <a:tr h="6218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Solution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Open-source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Custom keyword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Fits PS constraints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8725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 / Alexa wake word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9B3A3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9B3A3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✗ fixed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9B3A3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✗ banned by 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Porcupine (Picovoice)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9B3A3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✗ proprietary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2C2C2C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paid console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9B3A3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✗ commercial SDK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011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Espressif ESP-SR / WakeNet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Partly – training closed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2C2C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/ paid service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9B3A3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✗ fails open-pipeline rule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11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3D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★ Our approach: TinyWakeWordNet + Moonshine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3D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3D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✓ self-trained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3D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✓ meets every constraint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9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77240" y="6276194"/>
            <a:ext cx="16733520" cy="42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3D66"/>
                </a:solidFill>
                <a:latin typeface="Arial Bold"/>
                <a:ea typeface="Arial Bold"/>
                <a:cs typeface="Arial Bold"/>
                <a:sym typeface="Arial Bold"/>
              </a:rPr>
              <a:t>Key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240" y="6806670"/>
            <a:ext cx="16927694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T. N. Sainath &amp; C. Parada (2015), "Convolutional Neural Networks for Small-footprint Keyword Spotting," 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 tooltip="https://www.isca-archive.org/interspeech_2015/sainath15b_interspeech.pdf"/>
              </a:rPr>
              <a:t>https://www.isca-archive.org/interspeech_2015/sainath15b_interspeech.pdf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Y. Zhang, N. Suda, L. Lai &amp; V. Chandra (2017), "Hello Edge: Keyword Spotting on Microcontrollers"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 tooltip="https://arxiv.org/abs/1711.07128"/>
              </a:rPr>
              <a:t> — arxiv.org/abs/1711.07128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P. Warden (2018), "Speech Commands: A Dataset for Limited-Vocabulary Speech Recognition"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 tooltip="https://arxiv.org/abs/1804.03209"/>
              </a:rPr>
              <a:t> — arxiv.org/abs/1804.03209</a:t>
            </a:r>
          </a:p>
          <a:p>
            <a:pPr algn="l" marL="271462" indent="-135731" lvl="1">
              <a:lnSpc>
                <a:spcPts val="1800"/>
              </a:lnSpc>
              <a:buAutoNum type="arabicPeriod" startAt="1"/>
            </a:pPr>
            <a:r>
              <a:rPr lang="en-US" b="true" sz="150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LiteRT for Microcontrollers, official documentation</a:t>
            </a:r>
            <a:r>
              <a:rPr lang="en-US" sz="15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7" tooltip="https://ai.google.dev/edge/litert/microcontrollers/overview"/>
              </a:rPr>
              <a:t> — ai.google.dev/edge/litert/microcontrollers/overview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Moonshine, open-source streaming ASR toolkit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8" tooltip="https://github.com/usefulsensors/moonshine"/>
              </a:rPr>
              <a:t> — github.com/usefulsensors/moonshine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Espressif ESP-SR / WakeNet (industry reference compared above)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9" tooltip="https://github.com/espressif/esp-sr"/>
              </a:rPr>
              <a:t> — github.com/espressif/esp-sr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Panayotov et al. (2015), LibriSpeech corpus — used for the false-accept soak test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0" tooltip="https://openslr.org/12"/>
              </a:rPr>
              <a:t> — openslr.org/12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Piper TTS, used to synthesize training data across 84 voices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3" tooltip="https://github.com/rhasspy/piper"/>
              </a:rPr>
              <a:t> — github.com/rhasspy/piper</a:t>
            </a:r>
          </a:p>
          <a:p>
            <a:pPr algn="l" marL="298609" indent="-149304" lvl="1">
              <a:lnSpc>
                <a:spcPts val="1980"/>
              </a:lnSpc>
              <a:buAutoNum type="arabicPeriod" startAt="1"/>
            </a:pPr>
            <a:r>
              <a:rPr lang="en-US" b="true" sz="1650">
                <a:solidFill>
                  <a:srgbClr val="2C2C2C"/>
                </a:solidFill>
                <a:latin typeface="Arial Bold"/>
                <a:ea typeface="Arial Bold"/>
                <a:cs typeface="Arial Bold"/>
                <a:sym typeface="Arial Bold"/>
              </a:rPr>
              <a:t>Silero VAD, voice activity detection for the streaming pipeline</a:t>
            </a:r>
            <a:r>
              <a:rPr lang="en-US" sz="16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4" tooltip="https://github.com/snakers4/silero-vad"/>
              </a:rPr>
              <a:t> — github.com/snakers4/silero-vad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02026" y="137689"/>
            <a:ext cx="10805214" cy="1142351"/>
            <a:chOff x="0" y="0"/>
            <a:chExt cx="2845818" cy="3008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5818" cy="300866"/>
            </a:xfrm>
            <a:custGeom>
              <a:avLst/>
              <a:gdLst/>
              <a:ahLst/>
              <a:cxnLst/>
              <a:rect r="r" b="b" t="t" l="l"/>
              <a:pathLst>
                <a:path h="300866" w="2845818">
                  <a:moveTo>
                    <a:pt x="2845818" y="0"/>
                  </a:moveTo>
                  <a:lnTo>
                    <a:pt x="0" y="0"/>
                  </a:lnTo>
                  <a:lnTo>
                    <a:pt x="101600" y="150433"/>
                  </a:lnTo>
                  <a:lnTo>
                    <a:pt x="0" y="300866"/>
                  </a:lnTo>
                  <a:lnTo>
                    <a:pt x="2845818" y="300866"/>
                  </a:lnTo>
                  <a:lnTo>
                    <a:pt x="2744218" y="150433"/>
                  </a:lnTo>
                  <a:lnTo>
                    <a:pt x="2845818" y="0"/>
                  </a:lnTo>
                  <a:close/>
                </a:path>
              </a:pathLst>
            </a:custGeom>
            <a:solidFill>
              <a:srgbClr val="020C4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8900" y="-19050"/>
              <a:ext cx="2668018" cy="319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831612" y="-1478079"/>
            <a:ext cx="19019029" cy="4373888"/>
            <a:chOff x="0" y="0"/>
            <a:chExt cx="21777806" cy="5008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77806" cy="5008336"/>
            </a:xfrm>
            <a:custGeom>
              <a:avLst/>
              <a:gdLst/>
              <a:ahLst/>
              <a:cxnLst/>
              <a:rect r="r" b="b" t="t" l="l"/>
              <a:pathLst>
                <a:path h="5008336" w="21777806">
                  <a:moveTo>
                    <a:pt x="0" y="0"/>
                  </a:moveTo>
                  <a:lnTo>
                    <a:pt x="21777806" y="0"/>
                  </a:lnTo>
                  <a:lnTo>
                    <a:pt x="21777806" y="5008336"/>
                  </a:lnTo>
                  <a:lnTo>
                    <a:pt x="0" y="500833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62557" r="-770" b="-82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777806" cy="5008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99"/>
                </a:lnSpc>
              </a:pPr>
              <a:r>
                <a:rPr lang="en-US" sz="6499">
                  <a:solidFill>
                    <a:srgbClr val="FFFFFF"/>
                  </a:solidFill>
                  <a:latin typeface="Gagalin"/>
                  <a:ea typeface="Gagalin"/>
                  <a:cs typeface="Gagalin"/>
                  <a:sym typeface="Gagalin"/>
                </a:rPr>
                <a:t>RESEARCH AND REFERENCES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80528" y="9724731"/>
            <a:ext cx="18699717" cy="662282"/>
            <a:chOff x="0" y="0"/>
            <a:chExt cx="24384000" cy="863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0" cy="863600"/>
            </a:xfrm>
            <a:custGeom>
              <a:avLst/>
              <a:gdLst/>
              <a:ahLst/>
              <a:cxnLst/>
              <a:rect r="r" b="b" t="t" l="l"/>
              <a:pathLst>
                <a:path h="863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020C4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704934" y="9724731"/>
            <a:ext cx="339969" cy="547688"/>
            <a:chOff x="0" y="0"/>
            <a:chExt cx="453292" cy="730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3292" cy="730250"/>
            </a:xfrm>
            <a:custGeom>
              <a:avLst/>
              <a:gdLst/>
              <a:ahLst/>
              <a:cxnLst/>
              <a:rect r="r" b="b" t="t" l="l"/>
              <a:pathLst>
                <a:path h="730250" w="453292">
                  <a:moveTo>
                    <a:pt x="0" y="0"/>
                  </a:moveTo>
                  <a:lnTo>
                    <a:pt x="453292" y="0"/>
                  </a:lnTo>
                  <a:lnTo>
                    <a:pt x="45329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01813" r="-1155172" b="-1018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3292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51159" y="84314"/>
            <a:ext cx="1915887" cy="1249101"/>
            <a:chOff x="0" y="0"/>
            <a:chExt cx="2554516" cy="1665468"/>
          </a:xfrm>
        </p:grpSpPr>
        <p:sp>
          <p:nvSpPr>
            <p:cNvPr name="Freeform 25" id="2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554516" cy="166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Shrikhand"/>
                  <a:ea typeface="Shrikhand"/>
                  <a:cs typeface="Shrikhand"/>
                  <a:sym typeface="Shrikhand"/>
                </a:rPr>
                <a:t>SEVA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DAHUiQtW-eI</dc:identifier>
  <dcterms:modified xsi:type="dcterms:W3CDTF">2011-08-01T06:04:30Z</dcterms:modified>
  <cp:revision>1</cp:revision>
  <dc:title>SIH2026-IDEA-Presentation-Format.pptx</dc:title>
</cp:coreProperties>
</file>