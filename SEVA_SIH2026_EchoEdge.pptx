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False accepts/hour</c:v>
                </c:pt>
              </c:strCache>
            </c:strRef>
          </c:tx>
          <c:spPr>
            <a:solidFill>
              <a:srgbClr val="F58220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1620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5822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3880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Before fix</c:v>
                  </c:pt>
                  <c:pt idx="1">
                    <c:v>After fix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120.6</c:v>
                </c:pt>
                <c:pt idx="1">
                  <c:v>10.3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800" u="none">
                  <a:solidFill>
                    <a:srgbClr val="1620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620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0"/>
        <c:axPos val="l"/>
        <c:majorGridlines>
          <c:spPr>
            <a:ln w="9525" cap="flat">
              <a:solidFill>
                <a:srgbClr val="E2E8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5A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team SEVA and the problem: voice-controlled edge devices that stream every second of audio to the cloud are slow, costly and privacy-invasive. EchoEdge fixes this with an always-on, tiny wake-word model at the edge that wakes the cloud ASR only after 'Hey Tara'.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flow left to right. Edge side: mic, wake-word model, pre-roll and VAD. Cloud side: persistent WebSocket to Moonshine. Numbers are measured on the laptop prototype: 9,649-parameter model, 37.7 KB, 0.64 ms per window. False accepts fell from 120.6 to 10.3 per hour on 5.4 hours of unseen real speech after adding real-speech negatives. Latency of about 205-225 ms includes our deliberate two-consecutive-detection confirmation. State proactively that the ESP32 port is the next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stack and why each piece was chosen: DS-CNN is the Hello Edge family designed for microcontrollers; Moonshine is MIT-licensed streaming ASR; Silero VAD removed hallucinated transcripts on silence. Phases 1 and 2 are complete and demonstrated live on a laptop. Phases 3 to 5 are the hardware milestones.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 about limitations: only 7 real speakers, so leave-one-speaker-out accuracy is about 71-75%; the fix is more speakers, not a new architecture. The false-accept soak test is the honest measure of real-world behaviour: 120.6 per hour before adding real-speech negatives, 10.3 after. We will also measure TV, music and more accents.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each benefit back to ISRO. Emphasise data sovereignty: the cloud never hears audio before the wake word except a short pre-roll, and the open-source stack removes dependence on foreign proprietary voice SDKs.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comparison shows why existing wake-word engines do not fit the PS: they are proprietary or have closed training. Our approach is open end to end. The last column is marked as targeted because on-device verification on ESP32 is our next milestone.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Slide-4-image-1.jpeg"/><Relationship Id="rId2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D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070080" y="640080"/>
            <a:ext cx="5669280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98680" y="868680"/>
            <a:ext cx="5212080" cy="2194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INDIA HACKATHON 2026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182880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EchoEdge</a:t>
            </a:r>
            <a:endParaRPr lang="en-US" sz="8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291840"/>
            <a:ext cx="1554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 &amp; Efficient Voice Activator for Edge Devices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484632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484632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26172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596128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5596128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Latency and Efficient Voice Activator for Edge Devices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6345936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6345936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Automation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7095744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6126480" y="7095744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7845552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7845552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8595360"/>
            <a:ext cx="5120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</a:t>
            </a:r>
            <a:endParaRPr lang="en-US" sz="2400" dirty="0"/>
          </a:p>
        </p:txBody>
      </p:sp>
      <p:sp>
        <p:nvSpPr>
          <p:cNvPr id="18" name="Text 15"/>
          <p:cNvSpPr txBox="1"/>
          <p:nvPr/>
        </p:nvSpPr>
        <p:spPr>
          <a:xfrm>
            <a:off x="6126480" y="8595360"/>
            <a:ext cx="11338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SEVA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463040"/>
          </a:xfrm>
          <a:prstGeom prst="rect">
            <a:avLst/>
          </a:prstGeom>
          <a:solidFill>
            <a:srgbClr val="020D45"/>
          </a:solidFill>
          <a:ln w="12700">
            <a:solidFill>
              <a:srgbClr val="020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210312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8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0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82880"/>
            <a:ext cx="11338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EchoEdge: Proposed Solution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4813280" y="109728"/>
            <a:ext cx="3346704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4720" y="146304"/>
            <a:ext cx="3163824" cy="11704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9692640"/>
            <a:ext cx="18288000" cy="594360"/>
          </a:xfrm>
          <a:prstGeom prst="rect">
            <a:avLst/>
          </a:prstGeom>
          <a:solidFill>
            <a:srgbClr val="020D45"/>
          </a:solidFill>
          <a:ln w="12700">
            <a:solidFill>
              <a:srgbClr val="020D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96926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|  PS 26172  |  Team SEVA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824960" y="96926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1737360"/>
            <a:ext cx="83210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3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22960" y="1874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Solution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237744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open-source, </a:t>
            </a:r>
            <a:pPr indent="0" marL="0">
              <a:buNone/>
            </a:pPr>
            <a:r>
              <a:rPr lang="en-US" sz="2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microcontroller-class voice activator</a:t>
            </a:r>
            <a:pPr indent="0" marL="0">
              <a:buNone/>
            </a:pPr>
            <a:r>
              <a:rPr lang="en-US" sz="24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tiny on-device AI listens only for the custom wake word </a:t>
            </a:r>
            <a:pPr indent="0" marL="0">
              <a:buNone/>
            </a:pPr>
            <a:r>
              <a:rPr lang="en-US" sz="2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“Hey Tara”</a:t>
            </a:r>
            <a:pPr indent="0" marL="0">
              <a:buNone/>
            </a:pPr>
            <a:r>
              <a:rPr lang="en-US" sz="24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and, on detection, streams audio to a cloud ASR. The cloud hears nothing until the trigger, apart from a short pre-roll buffer.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9418320" y="1737360"/>
            <a:ext cx="832104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C9D3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9692640" y="1874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8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Addressed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9692640" y="2377440"/>
            <a:ext cx="7772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Always-streaming mics are slow, costly and a privacy risk. EchoEdge gives instant voice activation on </a:t>
            </a:r>
            <a:pPr indent="0" marL="0">
              <a:buNone/>
            </a:pPr>
            <a:r>
              <a:rPr lang="en-US" sz="2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low-power hardware</a:t>
            </a:r>
            <a:pPr indent="0" marL="0">
              <a:buNone/>
            </a:pPr>
            <a:r>
              <a:rPr lang="en-US" sz="24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within the PS limits (</a:t>
            </a:r>
            <a:pPr indent="0" marL="0">
              <a:buNone/>
            </a:pPr>
            <a:r>
              <a:rPr lang="en-US" sz="2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&lt;256 KB RAM, &lt;10% idle CPU</a:t>
            </a:r>
            <a:pPr indent="0" marL="0">
              <a:buNone/>
            </a:pPr>
            <a:r>
              <a:rPr lang="en-US" sz="24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using a </a:t>
            </a:r>
            <a:pPr indent="0" marL="0">
              <a:buNone/>
            </a:pPr>
            <a:r>
              <a:rPr lang="en-US" sz="2400" b="1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open-source</a:t>
            </a:r>
            <a:pPr indent="0" marL="0">
              <a:buNone/>
            </a:pPr>
            <a:r>
              <a:rPr lang="en-US" sz="24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stack with no commercial SDK.</a:t>
            </a:r>
            <a:endParaRPr lang="en-US" sz="24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7091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0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400" dirty="0"/>
          </a:p>
        </p:txBody>
      </p:sp>
      <p:sp>
        <p:nvSpPr>
          <p:cNvPr id="18" name="Shape 15"/>
          <p:cNvSpPr/>
          <p:nvPr/>
        </p:nvSpPr>
        <p:spPr>
          <a:xfrm>
            <a:off x="548640" y="5257800"/>
            <a:ext cx="2971800" cy="1371600"/>
          </a:xfrm>
          <a:prstGeom prst="roundRect">
            <a:avLst>
              <a:gd name="adj" fmla="val 8000"/>
            </a:avLst>
          </a:prstGeom>
          <a:solidFill>
            <a:srgbClr val="020D45"/>
          </a:solidFill>
          <a:ln w="12700">
            <a:solidFill>
              <a:srgbClr val="020D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731520" y="5623560"/>
            <a:ext cx="640080" cy="640080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76072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508760" y="54589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</a:t>
            </a:r>
            <a:endParaRPr lang="en-US" sz="1900" dirty="0"/>
          </a:p>
        </p:txBody>
      </p:sp>
      <p:sp>
        <p:nvSpPr>
          <p:cNvPr id="22" name="Text 18"/>
          <p:cNvSpPr txBox="1"/>
          <p:nvPr/>
        </p:nvSpPr>
        <p:spPr>
          <a:xfrm>
            <a:off x="1508760" y="5989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I2S MEMS, 16 kHz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3566160" y="5715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24" name="Shape 20"/>
          <p:cNvSpPr/>
          <p:nvPr/>
        </p:nvSpPr>
        <p:spPr>
          <a:xfrm>
            <a:off x="4069080" y="5257800"/>
            <a:ext cx="2971800" cy="1371600"/>
          </a:xfrm>
          <a:prstGeom prst="roundRect">
            <a:avLst>
              <a:gd name="adj" fmla="val 8000"/>
            </a:avLst>
          </a:prstGeom>
          <a:solidFill>
            <a:srgbClr val="020D45"/>
          </a:solidFill>
          <a:ln w="12700">
            <a:solidFill>
              <a:srgbClr val="020D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251960" y="5623560"/>
            <a:ext cx="640080" cy="640080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5760720"/>
            <a:ext cx="365760" cy="36576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029200" y="54589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wake-word</a:t>
            </a:r>
            <a:endParaRPr lang="en-US" sz="1900" dirty="0"/>
          </a:p>
        </p:txBody>
      </p:sp>
      <p:sp>
        <p:nvSpPr>
          <p:cNvPr id="28" name="Text 23"/>
          <p:cNvSpPr txBox="1"/>
          <p:nvPr/>
        </p:nvSpPr>
        <p:spPr>
          <a:xfrm>
            <a:off x="5029200" y="5989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DS-CNN, always on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7086600" y="5715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30" name="Shape 25"/>
          <p:cNvSpPr/>
          <p:nvPr/>
        </p:nvSpPr>
        <p:spPr>
          <a:xfrm>
            <a:off x="7589520" y="5257800"/>
            <a:ext cx="2971800" cy="1371600"/>
          </a:xfrm>
          <a:prstGeom prst="roundRect">
            <a:avLst>
              <a:gd name="adj" fmla="val 8000"/>
            </a:avLst>
          </a:prstGeom>
          <a:solidFill>
            <a:srgbClr val="020D45"/>
          </a:solidFill>
          <a:ln w="12700">
            <a:solidFill>
              <a:srgbClr val="020D45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7772400" y="5623560"/>
            <a:ext cx="640080" cy="640080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5760720"/>
            <a:ext cx="365760" cy="365760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8549640" y="54589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Pre-roll + VAD</a:t>
            </a:r>
            <a:endParaRPr lang="en-US" sz="1900" dirty="0"/>
          </a:p>
        </p:txBody>
      </p:sp>
      <p:sp>
        <p:nvSpPr>
          <p:cNvPr id="34" name="Text 28"/>
          <p:cNvSpPr txBox="1"/>
          <p:nvPr/>
        </p:nvSpPr>
        <p:spPr>
          <a:xfrm>
            <a:off x="8549640" y="5989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s buffer, Silero</a:t>
            </a:r>
            <a:endParaRPr lang="en-US" sz="1600" dirty="0"/>
          </a:p>
        </p:txBody>
      </p:sp>
      <p:sp>
        <p:nvSpPr>
          <p:cNvPr id="35" name="Text 29"/>
          <p:cNvSpPr txBox="1"/>
          <p:nvPr/>
        </p:nvSpPr>
        <p:spPr>
          <a:xfrm>
            <a:off x="10607040" y="5715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36" name="Shape 30"/>
          <p:cNvSpPr/>
          <p:nvPr/>
        </p:nvSpPr>
        <p:spPr>
          <a:xfrm>
            <a:off x="11109960" y="5257800"/>
            <a:ext cx="2971800" cy="1371600"/>
          </a:xfrm>
          <a:prstGeom prst="roundRect">
            <a:avLst>
              <a:gd name="adj" fmla="val 8000"/>
            </a:avLst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11292840" y="5623560"/>
            <a:ext cx="640080" cy="640080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0" y="5760720"/>
            <a:ext cx="365760" cy="36576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12070080" y="54589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</a:t>
            </a:r>
            <a:endParaRPr lang="en-US" sz="1900" dirty="0"/>
          </a:p>
        </p:txBody>
      </p:sp>
      <p:sp>
        <p:nvSpPr>
          <p:cNvPr id="40" name="Text 33"/>
          <p:cNvSpPr txBox="1"/>
          <p:nvPr/>
        </p:nvSpPr>
        <p:spPr>
          <a:xfrm>
            <a:off x="12070080" y="5989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WebSocket</a:t>
            </a:r>
            <a:endParaRPr lang="en-US" sz="1600" dirty="0"/>
          </a:p>
        </p:txBody>
      </p:sp>
      <p:sp>
        <p:nvSpPr>
          <p:cNvPr id="41" name="Text 34"/>
          <p:cNvSpPr txBox="1"/>
          <p:nvPr/>
        </p:nvSpPr>
        <p:spPr>
          <a:xfrm>
            <a:off x="14127480" y="5715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2000" dirty="0"/>
          </a:p>
        </p:txBody>
      </p:sp>
      <p:sp>
        <p:nvSpPr>
          <p:cNvPr id="42" name="Shape 35"/>
          <p:cNvSpPr/>
          <p:nvPr/>
        </p:nvSpPr>
        <p:spPr>
          <a:xfrm>
            <a:off x="14630400" y="5257800"/>
            <a:ext cx="2971800" cy="1371600"/>
          </a:xfrm>
          <a:prstGeom prst="roundRect">
            <a:avLst>
              <a:gd name="adj" fmla="val 8000"/>
            </a:avLst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14813280" y="5623560"/>
            <a:ext cx="640080" cy="640080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50440" y="5760720"/>
            <a:ext cx="365760" cy="365760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15590520" y="545896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ASR</a:t>
            </a:r>
            <a:endParaRPr lang="en-US" sz="1900" dirty="0"/>
          </a:p>
        </p:txBody>
      </p:sp>
      <p:sp>
        <p:nvSpPr>
          <p:cNvPr id="46" name="Text 38"/>
          <p:cNvSpPr txBox="1"/>
          <p:nvPr/>
        </p:nvSpPr>
        <p:spPr>
          <a:xfrm>
            <a:off x="15590520" y="59893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D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Moonshine transcript</a:t>
            </a:r>
            <a:endParaRPr lang="en-US" sz="1600" dirty="0"/>
          </a:p>
        </p:txBody>
      </p:sp>
      <p:sp>
        <p:nvSpPr>
          <p:cNvPr id="47" name="Text 39"/>
          <p:cNvSpPr txBox="1"/>
          <p:nvPr/>
        </p:nvSpPr>
        <p:spPr>
          <a:xfrm>
            <a:off x="548640" y="6675120"/>
            <a:ext cx="10012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0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DEVICE</a:t>
            </a:r>
            <a:endParaRPr lang="en-US" sz="1400" dirty="0"/>
          </a:p>
        </p:txBody>
      </p:sp>
      <p:sp>
        <p:nvSpPr>
          <p:cNvPr id="48" name="Text 40"/>
          <p:cNvSpPr txBox="1"/>
          <p:nvPr/>
        </p:nvSpPr>
        <p:spPr>
          <a:xfrm>
            <a:off x="11109960" y="6675120"/>
            <a:ext cx="6629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8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+ CLOUD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548640" y="7178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0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on our working prototype</a:t>
            </a:r>
            <a:endParaRPr lang="en-US" sz="2400" dirty="0"/>
          </a:p>
        </p:txBody>
      </p:sp>
      <p:sp>
        <p:nvSpPr>
          <p:cNvPr id="50" name="Shape 42"/>
          <p:cNvSpPr/>
          <p:nvPr/>
        </p:nvSpPr>
        <p:spPr>
          <a:xfrm>
            <a:off x="548640" y="7680960"/>
            <a:ext cx="3108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C9D3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51" name="Text 43"/>
          <p:cNvSpPr txBox="1"/>
          <p:nvPr/>
        </p:nvSpPr>
        <p:spPr>
          <a:xfrm>
            <a:off x="640080" y="7726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37.7 KB</a:t>
            </a:r>
            <a:endParaRPr lang="en-US" sz="3200" dirty="0"/>
          </a:p>
        </p:txBody>
      </p:sp>
      <p:sp>
        <p:nvSpPr>
          <p:cNvPr id="52" name="Text 44"/>
          <p:cNvSpPr txBox="1"/>
          <p:nvPr/>
        </p:nvSpPr>
        <p:spPr>
          <a:xfrm>
            <a:off x="640080" y="8412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9,649 parameters</a:t>
            </a:r>
            <a:endParaRPr lang="en-US" sz="1600" dirty="0"/>
          </a:p>
        </p:txBody>
      </p:sp>
      <p:sp>
        <p:nvSpPr>
          <p:cNvPr id="53" name="Shape 45"/>
          <p:cNvSpPr/>
          <p:nvPr/>
        </p:nvSpPr>
        <p:spPr>
          <a:xfrm>
            <a:off x="4114800" y="7680960"/>
            <a:ext cx="3108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C9D3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54" name="Text 46"/>
          <p:cNvSpPr txBox="1"/>
          <p:nvPr/>
        </p:nvSpPr>
        <p:spPr>
          <a:xfrm>
            <a:off x="4206240" y="7726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0.64 ms</a:t>
            </a:r>
            <a:endParaRPr lang="en-US" sz="3200" dirty="0"/>
          </a:p>
        </p:txBody>
      </p:sp>
      <p:sp>
        <p:nvSpPr>
          <p:cNvPr id="55" name="Text 47"/>
          <p:cNvSpPr txBox="1"/>
          <p:nvPr/>
        </p:nvSpPr>
        <p:spPr>
          <a:xfrm>
            <a:off x="4206240" y="8412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per 2 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(CPU)</a:t>
            </a:r>
            <a:endParaRPr lang="en-US" sz="1600" dirty="0"/>
          </a:p>
        </p:txBody>
      </p:sp>
      <p:sp>
        <p:nvSpPr>
          <p:cNvPr id="56" name="Shape 48"/>
          <p:cNvSpPr/>
          <p:nvPr/>
        </p:nvSpPr>
        <p:spPr>
          <a:xfrm>
            <a:off x="7680960" y="7680960"/>
            <a:ext cx="3108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C9D3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57" name="Text 49"/>
          <p:cNvSpPr txBox="1"/>
          <p:nvPr/>
        </p:nvSpPr>
        <p:spPr>
          <a:xfrm>
            <a:off x="7772400" y="7726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~12x</a:t>
            </a:r>
            <a:endParaRPr lang="en-US" sz="3200" dirty="0"/>
          </a:p>
        </p:txBody>
      </p:sp>
      <p:sp>
        <p:nvSpPr>
          <p:cNvPr id="58" name="Text 50"/>
          <p:cNvSpPr txBox="1"/>
          <p:nvPr/>
        </p:nvSpPr>
        <p:spPr>
          <a:xfrm>
            <a:off x="7772400" y="8412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false accepts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120.6 to 10.3 per hour</a:t>
            </a:r>
            <a:endParaRPr lang="en-US" sz="1600" dirty="0"/>
          </a:p>
        </p:txBody>
      </p:sp>
      <p:sp>
        <p:nvSpPr>
          <p:cNvPr id="59" name="Shape 51"/>
          <p:cNvSpPr/>
          <p:nvPr/>
        </p:nvSpPr>
        <p:spPr>
          <a:xfrm>
            <a:off x="11247120" y="7680960"/>
            <a:ext cx="3108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C9D3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0" name="Text 52"/>
          <p:cNvSpPr txBox="1"/>
          <p:nvPr/>
        </p:nvSpPr>
        <p:spPr>
          <a:xfrm>
            <a:off x="11338560" y="7726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~205-225 ms</a:t>
            </a:r>
            <a:endParaRPr lang="en-US" sz="3200" dirty="0"/>
          </a:p>
        </p:txBody>
      </p:sp>
      <p:sp>
        <p:nvSpPr>
          <p:cNvPr id="61" name="Text 53"/>
          <p:cNvSpPr txBox="1"/>
          <p:nvPr/>
        </p:nvSpPr>
        <p:spPr>
          <a:xfrm>
            <a:off x="11338560" y="8412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end to cloud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(laptop)</a:t>
            </a:r>
            <a:endParaRPr lang="en-US" sz="1600" dirty="0"/>
          </a:p>
        </p:txBody>
      </p:sp>
      <p:sp>
        <p:nvSpPr>
          <p:cNvPr id="62" name="Shape 54"/>
          <p:cNvSpPr/>
          <p:nvPr/>
        </p:nvSpPr>
        <p:spPr>
          <a:xfrm>
            <a:off x="14813280" y="7680960"/>
            <a:ext cx="31089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C9D3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3" name="Text 55"/>
          <p:cNvSpPr txBox="1"/>
          <p:nvPr/>
        </p:nvSpPr>
        <p:spPr>
          <a:xfrm>
            <a:off x="14904720" y="7726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64" name="Text 56"/>
          <p:cNvSpPr txBox="1"/>
          <p:nvPr/>
        </p:nvSpPr>
        <p:spPr>
          <a:xfrm>
            <a:off x="14904720" y="841248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commercial SDK</a:t>
            </a:r>
            <a:endParaRPr lang="en-US" sz="1600" dirty="0"/>
          </a:p>
        </p:txBody>
      </p:sp>
      <p:sp>
        <p:nvSpPr>
          <p:cNvPr id="65" name="Text 57"/>
          <p:cNvSpPr txBox="1"/>
          <p:nvPr/>
        </p:nvSpPr>
        <p:spPr>
          <a:xfrm>
            <a:off x="548640" y="9281160"/>
            <a:ext cx="1719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validated on a laptop as the edge stand-in; ESP32-S3 port and on-device benchmarking are the next milestone.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463040"/>
          </a:xfrm>
          <a:prstGeom prst="rect">
            <a:avLst/>
          </a:prstGeom>
          <a:solidFill>
            <a:srgbClr val="020D45"/>
          </a:solidFill>
          <a:ln w="12700">
            <a:solidFill>
              <a:srgbClr val="020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210312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8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0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82880"/>
            <a:ext cx="11338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Approach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4813280" y="109728"/>
            <a:ext cx="3346704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4720" y="146304"/>
            <a:ext cx="3163824" cy="11704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9692640"/>
            <a:ext cx="18288000" cy="594360"/>
          </a:xfrm>
          <a:prstGeom prst="rect">
            <a:avLst/>
          </a:prstGeom>
          <a:solidFill>
            <a:srgbClr val="020D45"/>
          </a:solidFill>
          <a:ln w="12700">
            <a:solidFill>
              <a:srgbClr val="020D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96926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|  PS 26172  |  Team SEVA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824960" y="96926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1737360"/>
            <a:ext cx="8595360" cy="76809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C9D3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822960" y="1874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822960" y="25146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020D45"/>
          </a:solidFill>
          <a:ln w="12700">
            <a:solidFill>
              <a:srgbClr val="020D4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251460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3108960" y="25146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 + INMP441 I2S MEMS microphone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822960" y="3502152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020D45"/>
          </a:solidFill>
          <a:ln w="12700">
            <a:solidFill>
              <a:srgbClr val="020D4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350215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model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3108960" y="3502152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Depthwise-separable CNN (DS-CNN) on 40-bin log-mel features; int8 via LiteRT for Microcontrollers</a:t>
            </a:r>
            <a:endParaRPr lang="en-US" sz="1900" dirty="0"/>
          </a:p>
        </p:txBody>
      </p:sp>
      <p:sp>
        <p:nvSpPr>
          <p:cNvPr id="19" name="Shape 16"/>
          <p:cNvSpPr/>
          <p:nvPr/>
        </p:nvSpPr>
        <p:spPr>
          <a:xfrm>
            <a:off x="822960" y="4489704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020D45"/>
          </a:solidFill>
          <a:ln w="12700">
            <a:solidFill>
              <a:srgbClr val="020D4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4489704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900" dirty="0"/>
          </a:p>
        </p:txBody>
      </p:sp>
      <p:sp>
        <p:nvSpPr>
          <p:cNvPr id="21" name="Text 18"/>
          <p:cNvSpPr txBox="1"/>
          <p:nvPr/>
        </p:nvSpPr>
        <p:spPr>
          <a:xfrm>
            <a:off x="3108960" y="4489704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PyTorch; 84 Piper-TTS voices + real recordings + LibriSpeech real-speech negatives</a:t>
            </a:r>
            <a:endParaRPr lang="en-US" sz="1900" dirty="0"/>
          </a:p>
        </p:txBody>
      </p:sp>
      <p:sp>
        <p:nvSpPr>
          <p:cNvPr id="22" name="Shape 19"/>
          <p:cNvSpPr/>
          <p:nvPr/>
        </p:nvSpPr>
        <p:spPr>
          <a:xfrm>
            <a:off x="822960" y="5477256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020D45"/>
          </a:solidFill>
          <a:ln w="12700">
            <a:solidFill>
              <a:srgbClr val="020D4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2960" y="5477256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activity</a:t>
            </a:r>
            <a:endParaRPr lang="en-US" sz="1900" dirty="0"/>
          </a:p>
        </p:txBody>
      </p:sp>
      <p:sp>
        <p:nvSpPr>
          <p:cNvPr id="24" name="Text 21"/>
          <p:cNvSpPr txBox="1"/>
          <p:nvPr/>
        </p:nvSpPr>
        <p:spPr>
          <a:xfrm>
            <a:off x="3108960" y="5477256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Silero VAD (ONNX, MIT) trims silence before streaming</a:t>
            </a:r>
            <a:endParaRPr lang="en-US" sz="1900" dirty="0"/>
          </a:p>
        </p:txBody>
      </p:sp>
      <p:sp>
        <p:nvSpPr>
          <p:cNvPr id="25" name="Shape 22"/>
          <p:cNvSpPr/>
          <p:nvPr/>
        </p:nvSpPr>
        <p:spPr>
          <a:xfrm>
            <a:off x="822960" y="6464808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020D45"/>
          </a:solidFill>
          <a:ln w="12700">
            <a:solidFill>
              <a:srgbClr val="020D4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22960" y="646480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</a:t>
            </a:r>
            <a:endParaRPr lang="en-US" sz="1900" dirty="0"/>
          </a:p>
        </p:txBody>
      </p:sp>
      <p:sp>
        <p:nvSpPr>
          <p:cNvPr id="27" name="Text 24"/>
          <p:cNvSpPr txBox="1"/>
          <p:nvPr/>
        </p:nvSpPr>
        <p:spPr>
          <a:xfrm>
            <a:off x="3108960" y="6464808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PCM16 over a persistent WebSocket; Opus compression planned</a:t>
            </a:r>
            <a:endParaRPr lang="en-US" sz="1900" dirty="0"/>
          </a:p>
        </p:txBody>
      </p:sp>
      <p:sp>
        <p:nvSpPr>
          <p:cNvPr id="28" name="Shape 25"/>
          <p:cNvSpPr/>
          <p:nvPr/>
        </p:nvSpPr>
        <p:spPr>
          <a:xfrm>
            <a:off x="822960" y="745236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020D45"/>
          </a:solidFill>
          <a:ln w="12700">
            <a:solidFill>
              <a:srgbClr val="020D45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22960" y="74523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ASR</a:t>
            </a:r>
            <a:endParaRPr lang="en-US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3108960" y="74523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Moonshine (MIT), real-time streaming, no GPU</a:t>
            </a:r>
            <a:endParaRPr lang="en-US" sz="1900" dirty="0"/>
          </a:p>
        </p:txBody>
      </p:sp>
      <p:sp>
        <p:nvSpPr>
          <p:cNvPr id="31" name="Text 28"/>
          <p:cNvSpPr txBox="1"/>
          <p:nvPr/>
        </p:nvSpPr>
        <p:spPr>
          <a:xfrm>
            <a:off x="822960" y="85039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Conv stem, then 3 depthwise-separable blocks, global average pool, 1 logit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9509760" y="1737360"/>
            <a:ext cx="8229600" cy="76809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C9D3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9784080" y="1874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38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and process</a:t>
            </a:r>
            <a:endParaRPr lang="en-US" sz="2400" dirty="0"/>
          </a:p>
        </p:txBody>
      </p:sp>
      <p:sp>
        <p:nvSpPr>
          <p:cNvPr id="34" name="Shape 31"/>
          <p:cNvSpPr/>
          <p:nvPr/>
        </p:nvSpPr>
        <p:spPr>
          <a:xfrm>
            <a:off x="9784080" y="2651760"/>
            <a:ext cx="731520" cy="731520"/>
          </a:xfrm>
          <a:prstGeom prst="ellipse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784080" y="26517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36" name="Text 33"/>
          <p:cNvSpPr txBox="1"/>
          <p:nvPr/>
        </p:nvSpPr>
        <p:spPr>
          <a:xfrm>
            <a:off x="10744200" y="2514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0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and training</a:t>
            </a:r>
            <a:endParaRPr lang="en-US" sz="2200" dirty="0"/>
          </a:p>
        </p:txBody>
      </p:sp>
      <p:sp>
        <p:nvSpPr>
          <p:cNvPr id="37" name="Text 34"/>
          <p:cNvSpPr txBox="1"/>
          <p:nvPr/>
        </p:nvSpPr>
        <p:spPr>
          <a:xfrm>
            <a:off x="10744200" y="29718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voices + 7 real speakers; hard negatives, noise, reverb, SpecAugment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15910560" y="278892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E6F4E4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15910560" y="27889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8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9784080" y="3931920"/>
            <a:ext cx="731520" cy="731520"/>
          </a:xfrm>
          <a:prstGeom prst="ellipse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9784080" y="3931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42" name="Text 39"/>
          <p:cNvSpPr txBox="1"/>
          <p:nvPr/>
        </p:nvSpPr>
        <p:spPr>
          <a:xfrm>
            <a:off x="10744200" y="379476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0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Edge-to-cloud pipeline</a:t>
            </a:r>
            <a:endParaRPr lang="en-US" sz="2200" dirty="0"/>
          </a:p>
        </p:txBody>
      </p:sp>
      <p:sp>
        <p:nvSpPr>
          <p:cNvPr id="43" name="Text 40"/>
          <p:cNvSpPr txBox="1"/>
          <p:nvPr/>
        </p:nvSpPr>
        <p:spPr>
          <a:xfrm>
            <a:off x="10744200" y="42519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word, pre-roll, VAD, WebSocket, Moonshine, live dashboard (laptop)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15910560" y="406908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E6F4E4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15910560" y="40690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88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9784080" y="5212080"/>
            <a:ext cx="731520" cy="731520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9784080" y="5212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48" name="Text 45"/>
          <p:cNvSpPr txBox="1"/>
          <p:nvPr/>
        </p:nvSpPr>
        <p:spPr>
          <a:xfrm>
            <a:off x="10744200" y="5074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0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Quantize to int8</a:t>
            </a:r>
            <a:endParaRPr lang="en-US" sz="2200" dirty="0"/>
          </a:p>
        </p:txBody>
      </p:sp>
      <p:sp>
        <p:nvSpPr>
          <p:cNvPr id="49" name="Text 46"/>
          <p:cNvSpPr txBox="1"/>
          <p:nvPr/>
        </p:nvSpPr>
        <p:spPr>
          <a:xfrm>
            <a:off x="10744200" y="55321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LiteRT Micro; check accuracy drop</a:t>
            </a:r>
            <a:endParaRPr lang="en-US" sz="1800" dirty="0"/>
          </a:p>
        </p:txBody>
      </p:sp>
      <p:sp>
        <p:nvSpPr>
          <p:cNvPr id="50" name="Shape 47"/>
          <p:cNvSpPr/>
          <p:nvPr/>
        </p:nvSpPr>
        <p:spPr>
          <a:xfrm>
            <a:off x="15910560" y="534924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FFF1E3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15910560" y="53492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9784080" y="6492240"/>
            <a:ext cx="731520" cy="731520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9784080" y="6492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54" name="Text 51"/>
          <p:cNvSpPr txBox="1"/>
          <p:nvPr/>
        </p:nvSpPr>
        <p:spPr>
          <a:xfrm>
            <a:off x="10744200" y="63550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0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ESP32-S3 firmware</a:t>
            </a:r>
            <a:endParaRPr lang="en-US" sz="2200" dirty="0"/>
          </a:p>
        </p:txBody>
      </p:sp>
      <p:sp>
        <p:nvSpPr>
          <p:cNvPr id="55" name="Text 52"/>
          <p:cNvSpPr txBox="1"/>
          <p:nvPr/>
        </p:nvSpPr>
        <p:spPr>
          <a:xfrm>
            <a:off x="10744200" y="68122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I2S capture, on-device inference, Wi-Fi streaming</a:t>
            </a:r>
            <a:endParaRPr lang="en-US" sz="1800" dirty="0"/>
          </a:p>
        </p:txBody>
      </p:sp>
      <p:sp>
        <p:nvSpPr>
          <p:cNvPr id="56" name="Shape 53"/>
          <p:cNvSpPr/>
          <p:nvPr/>
        </p:nvSpPr>
        <p:spPr>
          <a:xfrm>
            <a:off x="15910560" y="662940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FFF1E3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5910560" y="6629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9784080" y="7772400"/>
            <a:ext cx="731520" cy="731520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9784080" y="7772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60" name="Text 57"/>
          <p:cNvSpPr txBox="1"/>
          <p:nvPr/>
        </p:nvSpPr>
        <p:spPr>
          <a:xfrm>
            <a:off x="10744200" y="7635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0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benchmark</a:t>
            </a:r>
            <a:endParaRPr lang="en-US" sz="2200" dirty="0"/>
          </a:p>
        </p:txBody>
      </p:sp>
      <p:sp>
        <p:nvSpPr>
          <p:cNvPr id="61" name="Text 58"/>
          <p:cNvSpPr txBox="1"/>
          <p:nvPr/>
        </p:nvSpPr>
        <p:spPr>
          <a:xfrm>
            <a:off x="10744200" y="80924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RAM/flash, idle CPU %, false accepts, latency</a:t>
            </a:r>
            <a:endParaRPr lang="en-US" sz="1800" dirty="0"/>
          </a:p>
        </p:txBody>
      </p:sp>
      <p:sp>
        <p:nvSpPr>
          <p:cNvPr id="62" name="Shape 59"/>
          <p:cNvSpPr/>
          <p:nvPr/>
        </p:nvSpPr>
        <p:spPr>
          <a:xfrm>
            <a:off x="15910560" y="7909560"/>
            <a:ext cx="1554480" cy="457200"/>
          </a:xfrm>
          <a:prstGeom prst="roundRect">
            <a:avLst>
              <a:gd name="adj" fmla="val 20000"/>
            </a:avLst>
          </a:prstGeom>
          <a:solidFill>
            <a:srgbClr val="FFF1E3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15910560" y="7909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5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463040"/>
          </a:xfrm>
          <a:prstGeom prst="rect">
            <a:avLst/>
          </a:prstGeom>
          <a:solidFill>
            <a:srgbClr val="020D45"/>
          </a:solidFill>
          <a:ln w="12700">
            <a:solidFill>
              <a:srgbClr val="020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210312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8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0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82880"/>
            <a:ext cx="11338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and Viability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4813280" y="109728"/>
            <a:ext cx="3346704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4720" y="146304"/>
            <a:ext cx="3163824" cy="11704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9692640"/>
            <a:ext cx="18288000" cy="594360"/>
          </a:xfrm>
          <a:prstGeom prst="rect">
            <a:avLst/>
          </a:prstGeom>
          <a:solidFill>
            <a:srgbClr val="020D45"/>
          </a:solidFill>
          <a:ln w="12700">
            <a:solidFill>
              <a:srgbClr val="020D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96926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|  PS 26172  |  Team SEVA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824960" y="96926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1737360"/>
            <a:ext cx="11247120" cy="2487168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C9D3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7240" y="1920240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020D45"/>
          </a:solidFill>
          <a:ln w="12700">
            <a:solidFill>
              <a:srgbClr val="020D4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1920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Feasibility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2468880"/>
            <a:ext cx="107899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Off-the-shelf parts: ESP32-S3 and INMP441 MEMS microphone.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9,649-parameter DS-CNN: 37.7 KB in float32, about 10 KB expected after int8, far below the 256 KB limit. Peak activation RAM will be measured on device.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DS-CNN is a proven keyword-spotting family (Hello Edge).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548640" y="4425696"/>
            <a:ext cx="11247120" cy="2487168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C9D3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7240" y="4608576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460857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Viability</a:t>
            </a:r>
            <a:endParaRPr lang="en-US" sz="1900" dirty="0"/>
          </a:p>
        </p:txBody>
      </p:sp>
      <p:sp>
        <p:nvSpPr>
          <p:cNvPr id="18" name="Text 15"/>
          <p:cNvSpPr txBox="1"/>
          <p:nvPr/>
        </p:nvSpPr>
        <p:spPr>
          <a:xfrm>
            <a:off x="777240" y="5157216"/>
            <a:ext cx="107899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licensing cost: PyTorch, Piper, Moonshine (MIT), Silero VAD (MIT), websockets.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pipeline already runs live: mic, wake word, VAD, streaming, Moonshine, dashboard.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workstreams: data, firmware, ASR integration, testing.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548640" y="7114032"/>
            <a:ext cx="11247120" cy="2487168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12700">
            <a:solidFill>
              <a:srgbClr val="C9D3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777240" y="7296912"/>
            <a:ext cx="4206240" cy="457200"/>
          </a:xfrm>
          <a:prstGeom prst="roundRect">
            <a:avLst>
              <a:gd name="adj" fmla="val 16000"/>
            </a:avLst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729691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Mitigation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7845552"/>
            <a:ext cx="1078992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Unseen-speaker accuracy is ~71-75% with 7 speakers: we plan to record 15-20+ speakers, including more Indian accents.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accepts: real-speech negatives cut them 120.6 to 10.3 per hour; TV and music soak tests are next.</a:t>
            </a:r>
            <a:endParaRPr lang="en-US" sz="2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20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 Wi-Fi or noise: local LED trigger indicator and a backup demo video.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12161520" y="1737360"/>
            <a:ext cx="5577840" cy="7680960"/>
          </a:xfrm>
          <a:prstGeom prst="roundRect">
            <a:avLst>
              <a:gd name="adj" fmla="val 1967"/>
            </a:avLst>
          </a:prstGeom>
          <a:solidFill>
            <a:srgbClr val="FFFFFF"/>
          </a:solidFill>
          <a:ln w="12700">
            <a:solidFill>
              <a:srgbClr val="C9D3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Text 21"/>
          <p:cNvSpPr txBox="1"/>
          <p:nvPr/>
        </p:nvSpPr>
        <p:spPr>
          <a:xfrm>
            <a:off x="12435840" y="1874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0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False accepts per hour</a:t>
            </a:r>
            <a:endParaRPr lang="en-US" sz="22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12344400" y="2377440"/>
          <a:ext cx="521208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6" name="Text 22"/>
          <p:cNvSpPr txBox="1"/>
          <p:nvPr/>
        </p:nvSpPr>
        <p:spPr>
          <a:xfrm>
            <a:off x="12435840" y="758952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Soak test on 5.4 h of real, unseen audiobook speech through the exact live detection pipeline: about 12x fewer false triggers.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463040"/>
          </a:xfrm>
          <a:prstGeom prst="rect">
            <a:avLst/>
          </a:prstGeom>
          <a:solidFill>
            <a:srgbClr val="020D45"/>
          </a:solidFill>
          <a:ln w="12700">
            <a:solidFill>
              <a:srgbClr val="020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210312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8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0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82880"/>
            <a:ext cx="11338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and Benefits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4813280" y="109728"/>
            <a:ext cx="3346704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4720" y="146304"/>
            <a:ext cx="3163824" cy="11704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9692640"/>
            <a:ext cx="18288000" cy="594360"/>
          </a:xfrm>
          <a:prstGeom prst="rect">
            <a:avLst/>
          </a:prstGeom>
          <a:solidFill>
            <a:srgbClr val="020D45"/>
          </a:solidFill>
          <a:ln w="12700">
            <a:solidFill>
              <a:srgbClr val="020D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96926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|  PS 26172  |  Team SEVA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824960" y="96926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548640" y="1737360"/>
            <a:ext cx="17190720" cy="1005840"/>
          </a:xfrm>
          <a:prstGeom prst="roundRect">
            <a:avLst>
              <a:gd name="adj" fmla="val 9091"/>
            </a:avLst>
          </a:prstGeom>
          <a:solidFill>
            <a:srgbClr val="020D45"/>
          </a:solidFill>
          <a:ln w="12700">
            <a:solidFill>
              <a:srgbClr val="020D4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1737360"/>
            <a:ext cx="1664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8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AUDIENCE:  </a:t>
            </a:r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ISRO and other edge/embedded users: satellites, ground stations, remote sensors, mission-control interfaces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2971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0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548640" y="3520440"/>
            <a:ext cx="96926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9D3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777240" y="3666744"/>
            <a:ext cx="731520" cy="731520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849624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783080" y="3575304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0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</a:t>
            </a:r>
            <a:endParaRPr lang="en-US" sz="2000" dirty="0"/>
          </a:p>
        </p:txBody>
      </p:sp>
      <p:sp>
        <p:nvSpPr>
          <p:cNvPr id="18" name="Text 14"/>
          <p:cNvSpPr txBox="1"/>
          <p:nvPr/>
        </p:nvSpPr>
        <p:spPr>
          <a:xfrm>
            <a:off x="178308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licensing or SaaS fees; reuses low-cost ESP32 hardware.</a:t>
            </a:r>
            <a:endParaRPr lang="en-US" sz="1700" dirty="0"/>
          </a:p>
        </p:txBody>
      </p:sp>
      <p:sp>
        <p:nvSpPr>
          <p:cNvPr id="19" name="Shape 15"/>
          <p:cNvSpPr/>
          <p:nvPr/>
        </p:nvSpPr>
        <p:spPr>
          <a:xfrm>
            <a:off x="548640" y="4654296"/>
            <a:ext cx="96926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9D3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77240" y="4800600"/>
            <a:ext cx="731520" cy="731520"/>
          </a:xfrm>
          <a:prstGeom prst="ellipse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98348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783080" y="47091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0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/ National</a:t>
            </a:r>
            <a:endParaRPr lang="en-US" sz="2000" dirty="0"/>
          </a:p>
        </p:txBody>
      </p:sp>
      <p:sp>
        <p:nvSpPr>
          <p:cNvPr id="23" name="Text 18"/>
          <p:cNvSpPr txBox="1"/>
          <p:nvPr/>
        </p:nvSpPr>
        <p:spPr>
          <a:xfrm>
            <a:off x="1783080" y="51114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Indigenous, custom-trainable keywords; supports Atmanirbhar Bharat in critical space tech.</a:t>
            </a:r>
            <a:endParaRPr lang="en-US" sz="1700" dirty="0"/>
          </a:p>
        </p:txBody>
      </p:sp>
      <p:sp>
        <p:nvSpPr>
          <p:cNvPr id="24" name="Shape 19"/>
          <p:cNvSpPr/>
          <p:nvPr/>
        </p:nvSpPr>
        <p:spPr>
          <a:xfrm>
            <a:off x="548640" y="5788152"/>
            <a:ext cx="96926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9D3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77240" y="5934456"/>
            <a:ext cx="731520" cy="731520"/>
          </a:xfrm>
          <a:prstGeom prst="ellipse">
            <a:avLst/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6117336"/>
            <a:ext cx="365760" cy="36576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783080" y="584301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0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Environmental</a:t>
            </a:r>
            <a:endParaRPr lang="en-US" sz="2000" dirty="0"/>
          </a:p>
        </p:txBody>
      </p:sp>
      <p:sp>
        <p:nvSpPr>
          <p:cNvPr id="28" name="Text 22"/>
          <p:cNvSpPr txBox="1"/>
          <p:nvPr/>
        </p:nvSpPr>
        <p:spPr>
          <a:xfrm>
            <a:off x="1783080" y="62453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idle draw suits solar and battery-powered remote nodes; no cloud polling.</a:t>
            </a:r>
            <a:endParaRPr lang="en-US" sz="1700" dirty="0"/>
          </a:p>
        </p:txBody>
      </p:sp>
      <p:sp>
        <p:nvSpPr>
          <p:cNvPr id="29" name="Shape 23"/>
          <p:cNvSpPr/>
          <p:nvPr/>
        </p:nvSpPr>
        <p:spPr>
          <a:xfrm>
            <a:off x="548640" y="6922008"/>
            <a:ext cx="96926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9D3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77240" y="7068312"/>
            <a:ext cx="731520" cy="731520"/>
          </a:xfrm>
          <a:prstGeom prst="ellipse">
            <a:avLst/>
          </a:prstGeom>
          <a:solidFill>
            <a:srgbClr val="020D45"/>
          </a:solidFill>
          <a:ln w="12700">
            <a:solidFill>
              <a:srgbClr val="020D45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7251192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1783080" y="69768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0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/ Scalable</a:t>
            </a:r>
            <a:endParaRPr lang="en-US" sz="2000" dirty="0"/>
          </a:p>
        </p:txBody>
      </p:sp>
      <p:sp>
        <p:nvSpPr>
          <p:cNvPr id="33" name="Text 26"/>
          <p:cNvSpPr txBox="1"/>
          <p:nvPr/>
        </p:nvSpPr>
        <p:spPr>
          <a:xfrm>
            <a:off x="1783080" y="73792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Keyword-agnostic pipeline: retrain for defence, disaster response or industrial IoT.</a:t>
            </a:r>
            <a:endParaRPr lang="en-US" sz="1700" dirty="0"/>
          </a:p>
        </p:txBody>
      </p:sp>
      <p:sp>
        <p:nvSpPr>
          <p:cNvPr id="34" name="Shape 27"/>
          <p:cNvSpPr/>
          <p:nvPr/>
        </p:nvSpPr>
        <p:spPr>
          <a:xfrm>
            <a:off x="548640" y="8055864"/>
            <a:ext cx="969264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C9D3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777240" y="8202168"/>
            <a:ext cx="731520" cy="731520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8385048"/>
            <a:ext cx="365760" cy="36576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1783080" y="81107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0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2000" dirty="0"/>
          </a:p>
        </p:txBody>
      </p:sp>
      <p:sp>
        <p:nvSpPr>
          <p:cNvPr id="38" name="Text 30"/>
          <p:cNvSpPr txBox="1"/>
          <p:nvPr/>
        </p:nvSpPr>
        <p:spPr>
          <a:xfrm>
            <a:off x="1783080" y="8513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control for operators in noisy or hazardous field conditions.</a:t>
            </a:r>
            <a:endParaRPr lang="en-US" sz="1700" dirty="0"/>
          </a:p>
        </p:txBody>
      </p:sp>
      <p:sp>
        <p:nvSpPr>
          <p:cNvPr id="39" name="Shape 31"/>
          <p:cNvSpPr/>
          <p:nvPr/>
        </p:nvSpPr>
        <p:spPr>
          <a:xfrm>
            <a:off x="10607040" y="2971800"/>
            <a:ext cx="7132320" cy="6446520"/>
          </a:xfrm>
          <a:prstGeom prst="roundRect">
            <a:avLst>
              <a:gd name="adj" fmla="val 1702"/>
            </a:avLst>
          </a:prstGeom>
          <a:solidFill>
            <a:srgbClr val="138808"/>
          </a:solidFill>
          <a:ln w="12700">
            <a:solidFill>
              <a:srgbClr val="13880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27080" y="3246120"/>
            <a:ext cx="548640" cy="54864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11658600" y="32004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FOR ISRO</a:t>
            </a:r>
            <a:endParaRPr lang="en-US" sz="2600" dirty="0"/>
          </a:p>
        </p:txBody>
      </p:sp>
      <p:sp>
        <p:nvSpPr>
          <p:cNvPr id="42" name="Text 33"/>
          <p:cNvSpPr txBox="1"/>
          <p:nvPr/>
        </p:nvSpPr>
        <p:spPr>
          <a:xfrm>
            <a:off x="10927080" y="4114800"/>
            <a:ext cx="6492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sovereignty and offline trigger.</a:t>
            </a:r>
            <a:endParaRPr lang="en-US" sz="23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leaves the device only after the wake word (plus a short pre-roll), which suits launch pads and tracking stations with limited connectivity.</a:t>
            </a:r>
            <a:endParaRPr lang="en-US" sz="2300" dirty="0"/>
          </a:p>
        </p:txBody>
      </p:sp>
      <p:sp>
        <p:nvSpPr>
          <p:cNvPr id="43" name="Text 34"/>
          <p:cNvSpPr txBox="1"/>
          <p:nvPr/>
        </p:nvSpPr>
        <p:spPr>
          <a:xfrm>
            <a:off x="10927080" y="5852160"/>
            <a:ext cx="6492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Hands-free operations.</a:t>
            </a:r>
            <a:endParaRPr lang="en-US" sz="23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activation for ground-station operators and field engineers wearing gloves or suits.</a:t>
            </a:r>
            <a:endParaRPr lang="en-US" sz="2300" dirty="0"/>
          </a:p>
        </p:txBody>
      </p:sp>
      <p:sp>
        <p:nvSpPr>
          <p:cNvPr id="44" name="Text 35"/>
          <p:cNvSpPr txBox="1"/>
          <p:nvPr/>
        </p:nvSpPr>
        <p:spPr>
          <a:xfrm>
            <a:off x="10927080" y="7589520"/>
            <a:ext cx="6492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voice-triggered response.</a:t>
            </a:r>
            <a:endParaRPr lang="en-US" sz="2300" dirty="0"/>
          </a:p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is woken only on demand, for time-sensitive telemetry and command scenarios.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463040"/>
          </a:xfrm>
          <a:prstGeom prst="rect">
            <a:avLst/>
          </a:prstGeom>
          <a:solidFill>
            <a:srgbClr val="020D45"/>
          </a:solidFill>
          <a:ln w="12700">
            <a:solidFill>
              <a:srgbClr val="020D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2103120" cy="91440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F5822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274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0D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182880"/>
            <a:ext cx="11338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and References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14813280" y="109728"/>
            <a:ext cx="3346704" cy="1243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4720" y="146304"/>
            <a:ext cx="3163824" cy="11704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9692640"/>
            <a:ext cx="18288000" cy="594360"/>
          </a:xfrm>
          <a:prstGeom prst="rect">
            <a:avLst/>
          </a:prstGeom>
          <a:solidFill>
            <a:srgbClr val="020D45"/>
          </a:solidFill>
          <a:ln w="12700">
            <a:solidFill>
              <a:srgbClr val="020D4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96926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 |  PS 26172  |  Team SEVA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6824960" y="96926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719072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3840480"/>
                <a:gridCol w="3931920"/>
                <a:gridCol w="429768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Solution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D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Open-source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D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 keyword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D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Fits PS constraints</a:t>
                      </a:r>
                      <a:endParaRPr lang="en-US" sz="2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0D4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/ Alexa wake word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phrase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(proprietary)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Porcupine (Picovoice)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proprietary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paid console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(commercial SDK)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62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Espressif ESP-SR / WakeNet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B8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Partly; training closed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B85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Limited / paid service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Fails open-pipeline rule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388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approach: DS-CNN + LiteRT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388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388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self-trained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3880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Targeted; verifying on ESP32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4E4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48640" y="5349240"/>
            <a:ext cx="1719072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C9D3E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822960" y="5440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8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references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822960" y="5989320"/>
            <a:ext cx="166420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 N. Sainath and C. Parada (2015), CNNs for Small-footprint Keyword Spotting, Interspeech.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 Zhang, N. Suda, L. Lai, V. Chandra (2017), Hello Edge: Keyword Spotting on Microcontrollers. arxiv.org/abs/1711.07128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Warden (2018), Speech Commands dataset. arxiv.org/abs/1804.03209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Moonshine: Speech Recognition for Live Transcription and Voice Commands. arxiv.org/abs/2410.15608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Silero VAD (MIT), github.com/snakers4/silero-vad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Panayotov et al. (2015), LibriSpeech: an ASR corpus based on public domain audio books, ICASSP.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LiteRT for Microcontrollers documentation. ai.google.dev/edge/litert/microcontrollers/overview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Opus Interactive Audio Codec, IETF RFC 6716. datatracker.ietf.org/doc/html/rfc6716</a:t>
            </a:r>
            <a:endParaRPr lang="en-US" sz="17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162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Espressif ESP-SR / WakeNet (industry comparison). github.com/espressif/esp-sr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SEVA - EchoEdge - SIH 2026 PS 26172</dc:title>
  <dc:subject>PptxGenJS Presentation</dc:subject>
  <dc:creator>PptxGenJS</dc:creator>
  <cp:lastModifiedBy>PptxGenJS</cp:lastModifiedBy>
  <cp:revision>1</cp:revision>
  <dcterms:created xsi:type="dcterms:W3CDTF">2026-10-01T05:38:17Z</dcterms:created>
  <dcterms:modified xsi:type="dcterms:W3CDTF">2026-10-01T05:38:17Z</dcterms:modified>
</cp:coreProperties>
</file>